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Greet the committee and introduce yourself: Nebiyu Tsegaye, ID 1501332, Software Engineering student.
- Mention background: internship at Afronex Tech Company exposed me to Telegram-based informal job channels.
- State the project name clearly: Temariware — a Telegram Mini App for student job matching.
- Acknowledge the advisor and thank the committee for their time.
- Transition: "I will now walk through the project, starting with the outline."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This deck has 27 slides organised into 12 sections of the project guideline.
- First half covers context: introduction, problem, objectives, scope, methodology, significance.
- Second half covers technical: requirements, analysis, architecture, detailed design, conclusion.
- Each section corresponds to a chapter in the written document.
- Invite the committee to interrupt with questions at any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Open with the popularity of Telegram among Ethiopian students — almost everyone uses it daily.
- Name two real channels I observed: Afriwork and Yegna Tutors Harrar.
- Highlight the contradiction: huge reach but zero structure or filtering.
- Frame Temariware as the bridge between informal reach and formal structure.
- Transition: "This leads directly to the problem statement."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Walk through each pain point with a concrete example observed in the channels.
- Example for unstructured posts: a tutor job buried under fifty casual messages.
- Example for no archive: a student missed a role because chat scrolled past it overnight.
- Example for verification: a fake employer collected CVs and disappeared.
- Contrast with EthioJobs/Ezega to show the gap is specifically for student part-time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Read the objective slowly — it carries the three pillars: matching, verification, workflow.
- Emphasise the integration of payment verification + document checks + automated hiring in one platform.
- Highlight the three scope numbers: 3 roles, 3 languages, 0 ETB monthly cost.
- The 0 ETB point is critical — production software with zero recurring cost in Ethiopia.
- Transition: "Now I will break this into ten specific objectives."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All ten objectives were completed — the system is live and accepting users.
- Objectives 1, 2, and 4 were finished earliest; objective 6 (payment verification) took the most iteration.
- Objective 8 (auto-close) was a late addition requested by advisor for employer UX.
- Objective 10 (documentation) is this defence document itself, plus the inline Prisma schema in Appendix C.
- Transition: "Next, the scope of the project — what is included and what is deferred to v2."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In Scope items are all shipped and live in production.
- Out of Scope items are deferred — each was a conscious cut to fit the 12-week timeline.
- Chapa / Telebirr API requires business registration we did not have — deferred to v2.
- Scraping was deferred to avoid legal ambiguity around existing channels.
- Analytics and bookmarks were nice-to-haves that the advisor agreed to defer.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Manual payment verification is the biggest limitation — mitigated in v2 with Chapa API.
- Telegram dependency is accepted as a trade-off — the platform's reach justifies it.
- Base64 image storage is fine for current scale but should move to S3 / Supabase in v2.
- ID verification stays manual in v1 — admin review window is 24h SLA.
- Dispute resolution via Telegram is acceptable for v1; will be in-app in v2.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OOSD was mandated by the guideline — naturally maps to the seven entities we identified.
- Iterative approach let us ship a working Mini App after each 2-week cycle.
- Agile Unified Process gave us discipline without heavyweight ceremonies.
- Five phases align with the chapter structure of the written document.
- Continuous deployment to Vercel caught integration issues within hours, not weeks.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OO Analysis informed entity/relationship design
- CRC cards assigned responsibilities to classes
- Image compression kept DB rows small
- HMAC validation ensured user authenticity
- Tools chosen for free-tier, ecosystem, and team familiarity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Lead with the ecosystem angle — committee responds well to entrepreneurship narratives.
- Highlight the per-job application fee as both a filter and a sustainability lever.
- Mention that mandatory documents shift informal-market trust into a verifiable workflow.
- Multilingual support covers the three largest student populations in Ethiopia.
- Note the data angle — anonymised aggregates could feed future labour research.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WP3 and WP4 were the most time-consuming — backend schema and frontend views overlapped heavily.
- WP5 was surprisingly fast thanks to Telegram Bot API's webhook model.
- Testing window (WP6) was tight — iterative testing during WP3/WP4 absorbed most of the QA load.
- 12 calendar weeks matched the academic semester schedule exactly.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Schedule risk was managed by overlapping WP3 (backend) with WP4 (frontend) using API contracts.
- Economic feasibility is a strong selling point — committee usually probes cost recovery.
- Operational feasibility rests on Telegram's existing user habit — no adoption barrier.
- Single-admin payment verification is the principal operational bottleneck.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Afriwork posts roughly 10–20 jobs/day; Yegna Tutors Harrar focuses on tutoring roles.
- Channel operators are unpaid volunteers — bottleneck for verification.
- Telebirr screenshots are the de-facto payment proof today; no shared ledger exists.
- The "forward CV" pattern leaks personal data to unrelated employers.
- This baseline motivates every functional requirement in Chapter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FR-04 (image compression) was the trickiest — Canvas API + JPEG quality tuning for &lt;1MB.
- FR-05 enforces the document-complete rule via a Prisma-level check.
- FR-07 ties payment to jobPostFee column — admin-configurable globally via Setting.
- FR-09 broadcast uses the bot's sendMessage to @TEMARIWARE channel.
- FR-10 push alerts iterate over Subscription rows matching the job category.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NFR-01 verified with Vercel analytics + Lighthouse on a throttled 3G profile.
- NFR-02 enforced at the route level — every API behind HTTPS, initData validated per request.
- NFR-03 was tested on low-end Android devices in the Telegram client.
- NFR-05 free-tier limits (Vercel, Neon) were stress-tested with a synthetic load script.
- NFR-06 enforced via TypeScript strict mode + ESLint + Prettier pre-commit hook.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"one application per student per job" rule (Prisma unique constraint) shaped the Application table design.
- The base64 image storage constraint drove the client-side Canvas compression requirement.
- Telegram's URL-button-only limitation for channel posts shaped the broadcast UX.
- Free-tier constraint was a hard requirement, not a preference — every architectural decision was filtered through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Lead with the four actors — they map directly to the role field in the User table.
- The Apply-to-Job path is the most important — it triggers profile checks, application fee, and employer notification.
- The Post-Job extend relationship is conditional on jobPostFee &gt; 0.
- The Bot actor is non-human but treated as a primary actor because it owns three use cases.
- Reference Chapter 2 Figure 2.7 for the full UML use case diagram.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Seven classes chosen to mirror Prisma models one-to-one for traceability.
- Singleton Setting avoids environment-only config drift across deploys.
- Unique constraint on (jobId, userId) enforces one-application-per-student rule.
- Payment kept as audit log rather than transactional record (manual review).
- Mention that full attribute-level detail lives in the appendix schema.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Apply-to-Job sequence spans four layers and ends with a Telegram push.
- Application Lifecycle state transitions are enforced at the API layer.
- Auto-close runs on every accept and idempotently marks the job CLOSED.
- Approve-and-broadcast path was the trickiest because of channel URL-button limits.
- Mention figures 2.9–2.13 for full notation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Four layers map cleanly to Next.js folder conventions (app/, api/, lib/, prisma/).
- Layered over microservices because the team is small and the domain is bounded.
- Persistence layer is swappable — Neon Postgres today, could be Supabase tomorrow.
- Serverless-First was redundant: Vercel already enforces it at deployment.
- Reference Table 3.1 in the document for the full architecture trade-off matrix.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Bot webhook lives inside the same Next.js app to keep deployment single-artifact.
- Frankfurt Neon region was the lowest-latency free-tier option for Ethiopian users.
- Telegram Cloud handles all message delivery; we never run our own push infra.
- Vercel Edge serves the Mini App globally, not just from one region.
- Reference Figures 3.2 and 3.3 for the full component and deployment views.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User table centralises profile + role + verification.
- Unique (jobId, userId) on Application enforces one-application-per-student.
- Setting is a singleton row for global config.
- Payment is an audit log linking User + Job + Application.
- Reference Figure 3.4 and Appendix C for full schema.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Class diagram is the bridge between conceptual model and Prisma schema.
- Collaboration diagrams clarify who initiates each cross-layer call.
- State chart drives the Application status enum and transitions at API layer.
- UI diagrams were the most useful artefact during implementation handoff.
- ECB pattern keeps entity, boundary, and control logic cleanly separable.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Open @temariwarebot in Telegram to demo the live bot.
- Mini App loads inside Telegram; can also demo on temariware-rouge.vercel.app.
- Be ready to show one full flow: post → apply → accept → pay → hire.
- All nine bot slash commands are wired to the same webhook.
- Auto-close can be triggered by accepting the last remaining position.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Headline: all 10 objectives met on free-tier infra
- First v2 priority: Chapa API to remove manual payment bottleneck
- Second: image storage migration from base64 in Postgres
- In-app messaging reduces leakage to personal Telegram chats
- East African expansion proves architecture is region-portable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Thank the committee for their time
- Invite questions
- Offer to demo the live bot or Mini App
- Close confidently — system is live and accepting real users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58335" y="55476"/>
            <a:ext cx="3227218" cy="294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45"/>
              </a:lnSpc>
              <a:buNone/>
            </a:pPr>
            <a:r>
              <a:rPr lang="en-US" sz="1650" b="1" spc="66" kern="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DIRE DAWA UNIVERSITY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2770295" y="384981"/>
            <a:ext cx="3603410" cy="294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45"/>
              </a:lnSpc>
              <a:buNone/>
            </a:pPr>
            <a:r>
              <a:rPr lang="en-US" sz="1650" b="1" spc="66" kern="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INSTITUTE OF TECHNOLOGY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2911921" y="714487"/>
            <a:ext cx="3320159" cy="294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45"/>
              </a:lnSpc>
              <a:buNone/>
            </a:pPr>
            <a:r>
              <a:rPr lang="en-US" sz="1650" b="1" spc="66" kern="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SCHOOL OF COMPUTING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956173" y="1043992"/>
            <a:ext cx="5231542" cy="294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45"/>
              </a:lnSpc>
              <a:buNone/>
            </a:pPr>
            <a:r>
              <a:rPr lang="en-US" sz="1650" b="1" spc="66" kern="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DEPARTMENT OF SOFTWARE ENGINEERING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2994343" y="1630673"/>
            <a:ext cx="3155314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spc="108" kern="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SENIOR PROJECT DEFENSE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74320" y="2002148"/>
            <a:ext cx="8595360" cy="1388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75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Design and Implementation of Temariware: A Telegram Mini App for University Student Job Matching in Ethiopia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3314890" y="3630923"/>
            <a:ext cx="2514220" cy="264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2295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By:</a:t>
            </a:r>
            <a:pPr algn="ctr" indent="0" marL="0">
              <a:lnSpc>
                <a:spcPts val="229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Nebiyu Tsegaye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168826" y="3922365"/>
            <a:ext cx="2806349" cy="264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2295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ID:</a:t>
            </a:r>
            <a:pPr algn="ctr" indent="0" marL="0">
              <a:lnSpc>
                <a:spcPts val="229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1501332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78972" y="4213808"/>
            <a:ext cx="2586055" cy="264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95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Advisor:</a:t>
            </a:r>
            <a:pPr algn="ctr" indent="0" marL="0">
              <a:lnSpc>
                <a:spcPts val="229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[Advisor Name (Title)]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314890" y="4505251"/>
            <a:ext cx="2514220" cy="264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2295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Date:</a:t>
            </a:r>
            <a:pPr algn="ctr" indent="0" marL="0">
              <a:lnSpc>
                <a:spcPts val="229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[Month, Year]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314890" y="4796693"/>
            <a:ext cx="2514220" cy="314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9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Dire Dawa, Ethiopia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478346"/>
          </a:xfrm>
          <a:prstGeom prst="rect">
            <a:avLst/>
          </a:prstGeom>
          <a:noFill/>
          <a:ln/>
        </p:spPr>
        <p:txBody>
          <a:bodyPr wrap="none" lIns="0" tIns="0" rIns="0" bIns="85725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Outline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14350" y="1042988"/>
            <a:ext cx="3943350" cy="2495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10"/>
              </a:lnSpc>
              <a:spcAft>
                <a:spcPts val="788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Introduction &amp; Background</a:t>
            </a:r>
            <a:endParaRPr lang="en-US" sz="1650" dirty="0"/>
          </a:p>
          <a:p>
            <a:pPr algn="l" marL="342900" indent="-342900">
              <a:lnSpc>
                <a:spcPts val="2310"/>
              </a:lnSpc>
              <a:spcAft>
                <a:spcPts val="788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Problem Statement</a:t>
            </a:r>
            <a:endParaRPr lang="en-US" sz="1650" dirty="0"/>
          </a:p>
          <a:p>
            <a:pPr algn="l" marL="342900" indent="-342900">
              <a:lnSpc>
                <a:spcPts val="2310"/>
              </a:lnSpc>
              <a:spcAft>
                <a:spcPts val="788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Objectives</a:t>
            </a:r>
            <a:endParaRPr lang="en-US" sz="1650" dirty="0"/>
          </a:p>
          <a:p>
            <a:pPr algn="l" marL="342900" indent="-342900">
              <a:lnSpc>
                <a:spcPts val="2310"/>
              </a:lnSpc>
              <a:spcAft>
                <a:spcPts val="788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Scope &amp; Limitations</a:t>
            </a:r>
            <a:endParaRPr lang="en-US" sz="1650" dirty="0"/>
          </a:p>
          <a:p>
            <a:pPr algn="l" marL="342900" indent="-342900">
              <a:lnSpc>
                <a:spcPts val="2310"/>
              </a:lnSpc>
              <a:spcAft>
                <a:spcPts val="788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Methodology &amp; Tools</a:t>
            </a:r>
            <a:endParaRPr lang="en-US" sz="1650" dirty="0"/>
          </a:p>
          <a:p>
            <a:pPr algn="l" marL="342900" indent="-342900">
              <a:lnSpc>
                <a:spcPts val="2310"/>
              </a:lnSpc>
              <a:spcAft>
                <a:spcPts val="788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Significance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686300" y="1042988"/>
            <a:ext cx="3943350" cy="2495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10"/>
              </a:lnSpc>
              <a:spcAft>
                <a:spcPts val="788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Work Breakdown &amp; Feasibility</a:t>
            </a:r>
            <a:endParaRPr lang="en-US" sz="1650" dirty="0"/>
          </a:p>
          <a:p>
            <a:pPr algn="l" marL="342900" indent="-342900">
              <a:lnSpc>
                <a:spcPts val="2310"/>
              </a:lnSpc>
              <a:spcAft>
                <a:spcPts val="788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System Requirements</a:t>
            </a:r>
            <a:endParaRPr lang="en-US" sz="1650" dirty="0"/>
          </a:p>
          <a:p>
            <a:pPr algn="l" marL="342900" indent="-342900">
              <a:lnSpc>
                <a:spcPts val="2310"/>
              </a:lnSpc>
              <a:spcAft>
                <a:spcPts val="788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System Analysis</a:t>
            </a:r>
            <a:endParaRPr lang="en-US" sz="1650" dirty="0"/>
          </a:p>
          <a:p>
            <a:pPr algn="l" marL="342900" indent="-342900">
              <a:lnSpc>
                <a:spcPts val="2310"/>
              </a:lnSpc>
              <a:spcAft>
                <a:spcPts val="788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Software Architecture</a:t>
            </a:r>
            <a:endParaRPr lang="en-US" sz="1650" dirty="0"/>
          </a:p>
          <a:p>
            <a:pPr algn="l" marL="342900" indent="-342900">
              <a:lnSpc>
                <a:spcPts val="2310"/>
              </a:lnSpc>
              <a:spcAft>
                <a:spcPts val="788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Detailed Design</a:t>
            </a:r>
            <a:endParaRPr lang="en-US" sz="1650" dirty="0"/>
          </a:p>
          <a:p>
            <a:pPr algn="l" marL="342900" indent="-342900">
              <a:lnSpc>
                <a:spcPts val="2310"/>
              </a:lnSpc>
              <a:spcAft>
                <a:spcPts val="788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Conclusion &amp; Future Work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14350" y="4711415"/>
            <a:ext cx="8115300" cy="0"/>
          </a:xfrm>
          <a:prstGeom prst="line">
            <a:avLst/>
          </a:prstGeom>
          <a:noFill/>
          <a:ln w="7144">
            <a:solidFill>
              <a:srgbClr val="BF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4350" y="4772137"/>
            <a:ext cx="7719715" cy="22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Temariware — Senior Project Defense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54273" y="4772137"/>
            <a:ext cx="569457" cy="22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/ 27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478346"/>
          </a:xfrm>
          <a:prstGeom prst="rect">
            <a:avLst/>
          </a:prstGeom>
          <a:noFill/>
          <a:ln/>
        </p:spPr>
        <p:txBody>
          <a:bodyPr wrap="square" lIns="0" tIns="0" rIns="0" bIns="85725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Introduction &amp; Background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14350" y="1042988"/>
            <a:ext cx="8115300" cy="3738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Telegram is the dominant messaging platform for Ethiopian university students, with millions of daily active users.</a:t>
            </a:r>
            <a:endParaRPr lang="en-US" sz="1650" dirty="0"/>
          </a:p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Informal job channels (Afriwork, Yegna Tutors Harrar) post tutoring, freelance, and part-time roles daily.</a:t>
            </a:r>
            <a:endParaRPr lang="en-US" sz="1650" dirty="0"/>
          </a:p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These channels are free, instant, and reach a large targeted audience.</a:t>
            </a:r>
            <a:endParaRPr lang="en-US" sz="1650" dirty="0"/>
          </a:p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However, posts are unstructured free text with no filtering, no archive, and no verification.</a:t>
            </a:r>
            <a:endParaRPr lang="en-US" sz="1650" dirty="0"/>
          </a:p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Temariware proposes a structured Telegram Mini App + Bot to solve these gaps.</a:t>
            </a:r>
            <a:endParaRPr lang="en-US" sz="1650" dirty="0"/>
          </a:p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Combines the reach of Telegram with the structure of a traditional job-matching platform.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514350" y="4711415"/>
            <a:ext cx="8115300" cy="0"/>
          </a:xfrm>
          <a:prstGeom prst="line">
            <a:avLst/>
          </a:prstGeom>
          <a:noFill/>
          <a:ln w="7144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4350" y="4772137"/>
            <a:ext cx="7719715" cy="22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Temariware — Senior Project Defense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54273" y="4772137"/>
            <a:ext cx="569457" cy="22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/ 27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521065" cy="478346"/>
          </a:xfrm>
          <a:prstGeom prst="rect">
            <a:avLst/>
          </a:prstGeom>
          <a:noFill/>
          <a:ln/>
        </p:spPr>
        <p:txBody>
          <a:bodyPr wrap="none" lIns="0" tIns="0" rIns="0" bIns="85725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Statement of the Problem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14350" y="1042988"/>
            <a:ext cx="8115300" cy="3738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Job posts are unstructured free text — impossible to filter by subject, location, or salary.</a:t>
            </a:r>
            <a:endParaRPr lang="en-US" sz="1650" dirty="0"/>
          </a:p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 persistent archive — opportunities disappear from chat history within hours.</a:t>
            </a:r>
            <a:endParaRPr lang="en-US" sz="1650" dirty="0"/>
          </a:p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Neither employers nor students are verified — scams and no-shows are common.</a:t>
            </a:r>
            <a:endParaRPr lang="en-US" sz="1650" dirty="0"/>
          </a:p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Application process is highly manual — students forward CVs repeatedly, no tracking.</a:t>
            </a:r>
            <a:endParaRPr lang="en-US" sz="1650" dirty="0"/>
          </a:p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 payment mechanism — channels cannot sustain themselves or filter serious applicants.</a:t>
            </a:r>
            <a:endParaRPr lang="en-US" sz="1650" dirty="0"/>
          </a:p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Existing platforms (EthioJobs, Ezega) focus on full-time graduate roles, not student part-time work.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514350" y="4711415"/>
            <a:ext cx="8115300" cy="0"/>
          </a:xfrm>
          <a:prstGeom prst="line">
            <a:avLst/>
          </a:prstGeom>
          <a:noFill/>
          <a:ln w="7144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4350" y="4772137"/>
            <a:ext cx="7719715" cy="22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Temariware — Senior Project Defense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54273" y="4772137"/>
            <a:ext cx="569457" cy="22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/ 27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521065" cy="478346"/>
          </a:xfrm>
          <a:prstGeom prst="rect">
            <a:avLst/>
          </a:prstGeom>
          <a:noFill/>
          <a:ln/>
        </p:spPr>
        <p:txBody>
          <a:bodyPr wrap="none" lIns="0" tIns="0" rIns="0" bIns="85725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General Objective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14350" y="1042988"/>
            <a:ext cx="8115300" cy="2000138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35781" y="1042988"/>
            <a:ext cx="0" cy="2000138"/>
          </a:xfrm>
          <a:prstGeom prst="line">
            <a:avLst/>
          </a:prstGeom>
          <a:noFill/>
          <a:ln w="42863">
            <a:solidFill>
              <a:srgbClr val="1F4E7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4350" y="1042988"/>
            <a:ext cx="8115300" cy="2158444"/>
          </a:xfrm>
          <a:prstGeom prst="rect">
            <a:avLst/>
          </a:prstGeom>
          <a:noFill/>
          <a:ln/>
        </p:spPr>
        <p:txBody>
          <a:bodyPr wrap="square" lIns="257175" tIns="200025" rIns="257175" bIns="200025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</a:t>
            </a:r>
            <a:pPr algn="l" indent="0" marL="0">
              <a:lnSpc>
                <a:spcPts val="378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To design, develop, and deploy a Telegram Mini App and Bot called Temariware that connects Ethiopian university students with verified tutoring, freelance, part-time, and full-time job opportunities, while providing integrated payment verification, mandatory document checks, and automated hiring workflow management.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14350" y="3228863"/>
            <a:ext cx="2590726" cy="105091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14350" y="3243151"/>
            <a:ext cx="2590726" cy="0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01504" y="3228863"/>
            <a:ext cx="0" cy="1050913"/>
          </a:xfrm>
          <a:prstGeom prst="line">
            <a:avLst/>
          </a:prstGeom>
          <a:noFill/>
          <a:ln w="7144">
            <a:solidFill>
              <a:srgbClr val="BFBFB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4350" y="4276204"/>
            <a:ext cx="2590726" cy="0"/>
          </a:xfrm>
          <a:prstGeom prst="line">
            <a:avLst/>
          </a:prstGeom>
          <a:noFill/>
          <a:ln w="7144">
            <a:solidFill>
              <a:srgbClr val="BFBF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7922" y="3228863"/>
            <a:ext cx="0" cy="1050913"/>
          </a:xfrm>
          <a:prstGeom prst="line">
            <a:avLst/>
          </a:prstGeom>
          <a:noFill/>
          <a:ln w="7144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4369" y="3386026"/>
            <a:ext cx="2290688" cy="329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64369" y="3748013"/>
            <a:ext cx="2290688" cy="39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User Roles</a:t>
            </a:r>
            <a:endParaRPr lang="en-US" sz="1200" dirty="0"/>
          </a:p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(Student, Employer, Admin)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76526" y="3228863"/>
            <a:ext cx="2590837" cy="105091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276526" y="3243151"/>
            <a:ext cx="2590837" cy="0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63791" y="3228863"/>
            <a:ext cx="0" cy="1050913"/>
          </a:xfrm>
          <a:prstGeom prst="line">
            <a:avLst/>
          </a:prstGeom>
          <a:noFill/>
          <a:ln w="7144">
            <a:solidFill>
              <a:srgbClr val="BFBF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76526" y="4276204"/>
            <a:ext cx="2590837" cy="0"/>
          </a:xfrm>
          <a:prstGeom prst="line">
            <a:avLst/>
          </a:prstGeom>
          <a:noFill/>
          <a:ln w="7144">
            <a:solidFill>
              <a:srgbClr val="BFBF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80097" y="3228863"/>
            <a:ext cx="0" cy="1050913"/>
          </a:xfrm>
          <a:prstGeom prst="line">
            <a:avLst/>
          </a:prstGeom>
          <a:noFill/>
          <a:ln w="7144">
            <a:solidFill>
              <a:srgbClr val="BFBF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6544" y="3386026"/>
            <a:ext cx="2290800" cy="329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426544" y="3748013"/>
            <a:ext cx="2290800" cy="39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Languages</a:t>
            </a:r>
            <a:endParaRPr lang="en-US" sz="1200" dirty="0"/>
          </a:p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(EN, Amharic, Afaan Oromoo)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38813" y="3228863"/>
            <a:ext cx="2590726" cy="105091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038813" y="3243151"/>
            <a:ext cx="2590726" cy="0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25967" y="3228863"/>
            <a:ext cx="0" cy="1050913"/>
          </a:xfrm>
          <a:prstGeom prst="line">
            <a:avLst/>
          </a:prstGeom>
          <a:noFill/>
          <a:ln w="7144">
            <a:solidFill>
              <a:srgbClr val="BFBFB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38813" y="4276204"/>
            <a:ext cx="2590726" cy="0"/>
          </a:xfrm>
          <a:prstGeom prst="line">
            <a:avLst/>
          </a:prstGeom>
          <a:noFill/>
          <a:ln w="7144">
            <a:solidFill>
              <a:srgbClr val="BFBF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42385" y="3228863"/>
            <a:ext cx="0" cy="1050913"/>
          </a:xfrm>
          <a:prstGeom prst="line">
            <a:avLst/>
          </a:prstGeom>
          <a:noFill/>
          <a:ln w="7144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88832" y="3386026"/>
            <a:ext cx="2290688" cy="329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 ETB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188832" y="3748013"/>
            <a:ext cx="2290688" cy="39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Monthly Cost</a:t>
            </a:r>
            <a:endParaRPr lang="en-US" sz="1200" dirty="0"/>
          </a:p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(Free-Tier Infrastructure)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14350" y="4711415"/>
            <a:ext cx="8115300" cy="0"/>
          </a:xfrm>
          <a:prstGeom prst="line">
            <a:avLst/>
          </a:prstGeom>
          <a:noFill/>
          <a:ln w="7144">
            <a:solidFill>
              <a:srgbClr val="BFBF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4350" y="4772137"/>
            <a:ext cx="7719715" cy="22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Temariware — Senior Project Defense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54273" y="4772137"/>
            <a:ext cx="569457" cy="22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/ 27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521065" cy="478346"/>
          </a:xfrm>
          <a:prstGeom prst="rect">
            <a:avLst/>
          </a:prstGeom>
          <a:noFill/>
          <a:ln/>
        </p:spPr>
        <p:txBody>
          <a:bodyPr wrap="none" lIns="0" tIns="0" rIns="0" bIns="85725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Specific Objectives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514350" y="1317910"/>
            <a:ext cx="3943350" cy="0"/>
          </a:xfrm>
          <a:prstGeom prst="line">
            <a:avLst/>
          </a:prstGeom>
          <a:noFill/>
          <a:ln w="7144">
            <a:solidFill>
              <a:srgbClr val="BFB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4350" y="1042988"/>
            <a:ext cx="4858208" cy="300774"/>
          </a:xfrm>
          <a:prstGeom prst="rect">
            <a:avLst/>
          </a:prstGeom>
          <a:noFill/>
          <a:ln/>
        </p:spPr>
        <p:txBody>
          <a:bodyPr wrap="none" lIns="0" tIns="0" rIns="0" bIns="42863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spc="72" kern="0" dirty="0">
                <a:solidFill>
                  <a:srgbClr val="59595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OBJECTIVES 1 —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14350" y="1421495"/>
            <a:ext cx="3943350" cy="3722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22"/>
              </a:lnSpc>
              <a:spcAft>
                <a:spcPts val="563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Analyse limitations of existing informal Telegram job channels and elicit stakeholder requirements.</a:t>
            </a:r>
            <a:endParaRPr lang="en-US" sz="1350" dirty="0"/>
          </a:p>
          <a:p>
            <a:pPr algn="l" marL="342900" indent="-342900">
              <a:lnSpc>
                <a:spcPts val="1822"/>
              </a:lnSpc>
              <a:spcAft>
                <a:spcPts val="563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Design a multi-section Mini App UI (job feed, detail, post, applications, profile, admin) with 3-language support.</a:t>
            </a:r>
            <a:endParaRPr lang="en-US" sz="1350" dirty="0"/>
          </a:p>
          <a:p>
            <a:pPr algn="l" marL="342900" indent="-342900">
              <a:lnSpc>
                <a:spcPts val="1822"/>
              </a:lnSpc>
              <a:spcAft>
                <a:spcPts val="563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Design and implement a PostgreSQL database schema via Prisma ORM (users, jobs, applications, payments, subscriptions, verifications, settings).</a:t>
            </a:r>
            <a:endParaRPr lang="en-US" sz="1350" dirty="0"/>
          </a:p>
          <a:p>
            <a:pPr algn="l" marL="342900" indent="-342900">
              <a:lnSpc>
                <a:spcPts val="1822"/>
              </a:lnSpc>
              <a:spcAft>
                <a:spcPts val="563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Implement a Telegram Bot webhook handling 9 slash commands and pushing instant alerts.</a:t>
            </a:r>
            <a:endParaRPr lang="en-US" sz="1350" dirty="0"/>
          </a:p>
          <a:p>
            <a:pPr algn="l" marL="342900" indent="-342900">
              <a:lnSpc>
                <a:spcPts val="1822"/>
              </a:lnSpc>
              <a:spcAft>
                <a:spcPts val="563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Implement Telegram WebApp initData HMAC-SHA256 authentication.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686300" y="1317910"/>
            <a:ext cx="3943350" cy="0"/>
          </a:xfrm>
          <a:prstGeom prst="line">
            <a:avLst/>
          </a:prstGeom>
          <a:noFill/>
          <a:ln w="7144">
            <a:solidFill>
              <a:srgbClr val="BFBF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86300" y="1042988"/>
            <a:ext cx="4457700" cy="300774"/>
          </a:xfrm>
          <a:prstGeom prst="rect">
            <a:avLst/>
          </a:prstGeom>
          <a:noFill/>
          <a:ln/>
        </p:spPr>
        <p:txBody>
          <a:bodyPr wrap="none" lIns="0" tIns="0" rIns="0" bIns="42863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spc="72" kern="0" dirty="0">
                <a:solidFill>
                  <a:srgbClr val="59595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OBJECTIVES 6 — 10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86300" y="1421495"/>
            <a:ext cx="3943350" cy="331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22"/>
              </a:lnSpc>
              <a:spcAft>
                <a:spcPts val="563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Implement screenshot-based payment verification (job post fee + per-job application fee).</a:t>
            </a:r>
            <a:endParaRPr lang="en-US" sz="1350" dirty="0"/>
          </a:p>
          <a:p>
            <a:pPr algn="l" marL="342900" indent="-342900">
              <a:lnSpc>
                <a:spcPts val="1822"/>
              </a:lnSpc>
              <a:spcAft>
                <a:spcPts val="563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Implement mandatory document upload (National ID, University ID, grade report) with image compression.</a:t>
            </a:r>
            <a:endParaRPr lang="en-US" sz="1350" dirty="0"/>
          </a:p>
          <a:p>
            <a:pPr algn="l" marL="342900" indent="-342900">
              <a:lnSpc>
                <a:spcPts val="1822"/>
              </a:lnSpc>
              <a:spcAft>
                <a:spcPts val="563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Implement automatic job closure when positionsAvailable is reached.</a:t>
            </a:r>
            <a:endParaRPr lang="en-US" sz="1350" dirty="0"/>
          </a:p>
          <a:p>
            <a:pPr algn="l" marL="342900" indent="-342900">
              <a:lnSpc>
                <a:spcPts val="1822"/>
              </a:lnSpc>
              <a:spcAft>
                <a:spcPts val="563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Deploy on free-tier infrastructure (Vercel + Neon Postgres + Telegram Bot API).</a:t>
            </a:r>
            <a:endParaRPr lang="en-US" sz="1350" dirty="0"/>
          </a:p>
          <a:p>
            <a:pPr algn="l" marL="342900" indent="-342900">
              <a:lnSpc>
                <a:spcPts val="1822"/>
              </a:lnSpc>
              <a:spcAft>
                <a:spcPts val="563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Document the system per the Dire Dawa University industrial project guideline.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14350" y="4711415"/>
            <a:ext cx="8115300" cy="0"/>
          </a:xfrm>
          <a:prstGeom prst="line">
            <a:avLst/>
          </a:prstGeom>
          <a:noFill/>
          <a:ln w="7144">
            <a:solidFill>
              <a:srgbClr val="BFBF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4350" y="4772137"/>
            <a:ext cx="7719715" cy="22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Temariware — Senior Project Defense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54273" y="4772137"/>
            <a:ext cx="569457" cy="22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 / 27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521065" cy="478346"/>
          </a:xfrm>
          <a:prstGeom prst="rect">
            <a:avLst/>
          </a:prstGeom>
          <a:noFill/>
          <a:ln/>
        </p:spPr>
        <p:txBody>
          <a:bodyPr wrap="none" lIns="0" tIns="0" rIns="0" bIns="85725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Scope of the Project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514350" y="1350169"/>
            <a:ext cx="3943350" cy="0"/>
          </a:xfrm>
          <a:prstGeom prst="line">
            <a:avLst/>
          </a:prstGeom>
          <a:noFill/>
          <a:ln w="14288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4350" y="1042988"/>
            <a:ext cx="5205222" cy="339471"/>
          </a:xfrm>
          <a:prstGeom prst="rect">
            <a:avLst/>
          </a:prstGeom>
          <a:noFill/>
          <a:ln/>
        </p:spPr>
        <p:txBody>
          <a:bodyPr wrap="none" lIns="0" tIns="0" rIns="0" bIns="42863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spc="54" kern="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 SCOPE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14350" y="1443038"/>
            <a:ext cx="3943350" cy="2919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spcAft>
                <a:spcPts val="45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721"/>
              </a:lnSpc>
              <a:spcAft>
                <a:spcPts val="450"/>
              </a:spcAft>
              <a:buNone/>
            </a:pPr>
            <a:r>
              <a:rPr lang="en-US" sz="1275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Next.js Mini App with 6 primary views</a:t>
            </a:r>
            <a:endParaRPr lang="en-US" sz="1275" dirty="0"/>
          </a:p>
          <a:p>
            <a:pPr algn="l" indent="0" marL="0">
              <a:lnSpc>
                <a:spcPts val="1721"/>
              </a:lnSpc>
              <a:spcAft>
                <a:spcPts val="45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721"/>
              </a:lnSpc>
              <a:spcAft>
                <a:spcPts val="450"/>
              </a:spcAft>
              <a:buNone/>
            </a:pPr>
            <a:r>
              <a:rPr lang="en-US" sz="1275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Telegram bot with 9 slash commands</a:t>
            </a:r>
            <a:endParaRPr lang="en-US" sz="1275" dirty="0"/>
          </a:p>
          <a:p>
            <a:pPr algn="l" indent="0" marL="0">
              <a:lnSpc>
                <a:spcPts val="1721"/>
              </a:lnSpc>
              <a:spcAft>
                <a:spcPts val="45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721"/>
              </a:lnSpc>
              <a:spcAft>
                <a:spcPts val="450"/>
              </a:spcAft>
              <a:buNone/>
            </a:pPr>
            <a:r>
              <a:rPr lang="en-US" sz="1275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PostgreSQL database with 7 entities</a:t>
            </a:r>
            <a:endParaRPr lang="en-US" sz="1275" dirty="0"/>
          </a:p>
          <a:p>
            <a:pPr algn="l" indent="0" marL="0">
              <a:lnSpc>
                <a:spcPts val="1721"/>
              </a:lnSpc>
              <a:spcAft>
                <a:spcPts val="45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721"/>
              </a:lnSpc>
              <a:spcAft>
                <a:spcPts val="450"/>
              </a:spcAft>
              <a:buNone/>
            </a:pPr>
            <a:r>
              <a:rPr lang="en-US" sz="1275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HMAC-based authentication layer</a:t>
            </a:r>
            <a:endParaRPr lang="en-US" sz="1275" dirty="0"/>
          </a:p>
          <a:p>
            <a:pPr algn="l" indent="0" marL="0">
              <a:lnSpc>
                <a:spcPts val="1721"/>
              </a:lnSpc>
              <a:spcAft>
                <a:spcPts val="45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721"/>
              </a:lnSpc>
              <a:spcAft>
                <a:spcPts val="450"/>
              </a:spcAft>
              <a:buNone/>
            </a:pPr>
            <a:r>
              <a:rPr lang="en-US" sz="1275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Screenshot-based payment verification</a:t>
            </a:r>
            <a:endParaRPr lang="en-US" sz="1275" dirty="0"/>
          </a:p>
          <a:p>
            <a:pPr algn="l" indent="0" marL="0">
              <a:lnSpc>
                <a:spcPts val="1721"/>
              </a:lnSpc>
              <a:spcAft>
                <a:spcPts val="45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721"/>
              </a:lnSpc>
              <a:spcAft>
                <a:spcPts val="450"/>
              </a:spcAft>
              <a:buNone/>
            </a:pPr>
            <a:r>
              <a:rPr lang="en-US" sz="1275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Mandatory document upload with compression</a:t>
            </a:r>
            <a:endParaRPr lang="en-US" sz="1275" dirty="0"/>
          </a:p>
          <a:p>
            <a:pPr algn="l" indent="0" marL="0">
              <a:lnSpc>
                <a:spcPts val="1721"/>
              </a:lnSpc>
              <a:spcAft>
                <a:spcPts val="45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721"/>
              </a:lnSpc>
              <a:spcAft>
                <a:spcPts val="450"/>
              </a:spcAft>
              <a:buNone/>
            </a:pPr>
            <a:r>
              <a:rPr lang="en-US" sz="1275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Per-job configurable application fees</a:t>
            </a:r>
            <a:endParaRPr lang="en-US" sz="1275" dirty="0"/>
          </a:p>
          <a:p>
            <a:pPr algn="l" indent="0" marL="0">
              <a:lnSpc>
                <a:spcPts val="1721"/>
              </a:lnSpc>
              <a:spcAft>
                <a:spcPts val="45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721"/>
              </a:lnSpc>
              <a:spcAft>
                <a:spcPts val="450"/>
              </a:spcAft>
              <a:buNone/>
            </a:pPr>
            <a:r>
              <a:rPr lang="en-US" sz="1275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Automatic job closure on hiring target</a:t>
            </a:r>
            <a:endParaRPr lang="en-US" sz="1275" dirty="0"/>
          </a:p>
          <a:p>
            <a:pPr algn="l" indent="0" marL="0">
              <a:lnSpc>
                <a:spcPts val="1721"/>
              </a:lnSpc>
              <a:spcAft>
                <a:spcPts val="45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721"/>
              </a:lnSpc>
              <a:spcAft>
                <a:spcPts val="450"/>
              </a:spcAft>
              <a:buNone/>
            </a:pPr>
            <a:r>
              <a:rPr lang="en-US" sz="1275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Channel broadcast to @TEMARIWARE</a:t>
            </a:r>
            <a:endParaRPr lang="en-US" sz="1275" dirty="0"/>
          </a:p>
          <a:p>
            <a:pPr algn="l" indent="0" marL="0">
              <a:lnSpc>
                <a:spcPts val="1721"/>
              </a:lnSpc>
              <a:spcAft>
                <a:spcPts val="45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721"/>
              </a:lnSpc>
              <a:spcAft>
                <a:spcPts val="450"/>
              </a:spcAft>
              <a:buNone/>
            </a:pPr>
            <a:r>
              <a:rPr lang="en-US" sz="1275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Per-subscriber push alerts</a:t>
            </a:r>
            <a:endParaRPr lang="en-US" sz="1275" dirty="0"/>
          </a:p>
        </p:txBody>
      </p:sp>
      <p:sp>
        <p:nvSpPr>
          <p:cNvPr id="6" name="Shape 4"/>
          <p:cNvSpPr/>
          <p:nvPr/>
        </p:nvSpPr>
        <p:spPr>
          <a:xfrm>
            <a:off x="4686300" y="1350169"/>
            <a:ext cx="3943350" cy="0"/>
          </a:xfrm>
          <a:prstGeom prst="line">
            <a:avLst/>
          </a:prstGeom>
          <a:noFill/>
          <a:ln w="14288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86300" y="1042988"/>
            <a:ext cx="4457700" cy="339471"/>
          </a:xfrm>
          <a:prstGeom prst="rect">
            <a:avLst/>
          </a:prstGeom>
          <a:noFill/>
          <a:ln/>
        </p:spPr>
        <p:txBody>
          <a:bodyPr wrap="none" lIns="0" tIns="0" rIns="0" bIns="42863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spc="54" kern="0" dirty="0">
                <a:solidFill>
                  <a:srgbClr val="1F4E7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OUT OF SCOPE (V2)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86300" y="1443038"/>
            <a:ext cx="3943350" cy="2042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spcAft>
                <a:spcPts val="45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721"/>
              </a:lnSpc>
              <a:spcAft>
                <a:spcPts val="450"/>
              </a:spcAft>
              <a:buNone/>
            </a:pPr>
            <a:r>
              <a:rPr lang="en-US" sz="1275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Real Chapa / Telebirr API integration</a:t>
            </a:r>
            <a:endParaRPr lang="en-US" sz="1275" dirty="0"/>
          </a:p>
          <a:p>
            <a:pPr algn="l" indent="0" marL="0">
              <a:lnSpc>
                <a:spcPts val="1721"/>
              </a:lnSpc>
              <a:spcAft>
                <a:spcPts val="45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721"/>
              </a:lnSpc>
              <a:spcAft>
                <a:spcPts val="450"/>
              </a:spcAft>
              <a:buNone/>
            </a:pPr>
            <a:r>
              <a:rPr lang="en-US" sz="1275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Automated scraping of existing channels</a:t>
            </a:r>
            <a:endParaRPr lang="en-US" sz="1275" dirty="0"/>
          </a:p>
          <a:p>
            <a:pPr algn="l" indent="0" marL="0">
              <a:lnSpc>
                <a:spcPts val="1721"/>
              </a:lnSpc>
              <a:spcAft>
                <a:spcPts val="45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721"/>
              </a:lnSpc>
              <a:spcAft>
                <a:spcPts val="450"/>
              </a:spcAft>
              <a:buNone/>
            </a:pPr>
            <a:r>
              <a:rPr lang="en-US" sz="1275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In-app CV file storage (uses external links)</a:t>
            </a:r>
            <a:endParaRPr lang="en-US" sz="1275" dirty="0"/>
          </a:p>
          <a:p>
            <a:pPr algn="l" indent="0" marL="0">
              <a:lnSpc>
                <a:spcPts val="1721"/>
              </a:lnSpc>
              <a:spcAft>
                <a:spcPts val="45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721"/>
              </a:lnSpc>
              <a:spcAft>
                <a:spcPts val="450"/>
              </a:spcAft>
              <a:buNone/>
            </a:pPr>
            <a:r>
              <a:rPr lang="en-US" sz="1275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Email or SMS notifications</a:t>
            </a:r>
            <a:endParaRPr lang="en-US" sz="1275" dirty="0"/>
          </a:p>
          <a:p>
            <a:pPr algn="l" indent="0" marL="0">
              <a:lnSpc>
                <a:spcPts val="1721"/>
              </a:lnSpc>
              <a:spcAft>
                <a:spcPts val="45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721"/>
              </a:lnSpc>
              <a:spcAft>
                <a:spcPts val="450"/>
              </a:spcAft>
              <a:buNone/>
            </a:pPr>
            <a:r>
              <a:rPr lang="en-US" sz="1275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Employer dashboard with multi-job analytics</a:t>
            </a:r>
            <a:endParaRPr lang="en-US" sz="1275" dirty="0"/>
          </a:p>
          <a:p>
            <a:pPr algn="l" indent="0" marL="0">
              <a:lnSpc>
                <a:spcPts val="1721"/>
              </a:lnSpc>
              <a:spcAft>
                <a:spcPts val="45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721"/>
              </a:lnSpc>
              <a:spcAft>
                <a:spcPts val="450"/>
              </a:spcAft>
              <a:buNone/>
            </a:pPr>
            <a:r>
              <a:rPr lang="en-US" sz="1275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Saved/bookmarked jobs</a:t>
            </a:r>
            <a:endParaRPr lang="en-US" sz="1275" dirty="0"/>
          </a:p>
          <a:p>
            <a:pPr algn="l" indent="0" marL="0">
              <a:lnSpc>
                <a:spcPts val="1721"/>
              </a:lnSpc>
              <a:spcAft>
                <a:spcPts val="45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721"/>
              </a:lnSpc>
              <a:spcAft>
                <a:spcPts val="450"/>
              </a:spcAft>
              <a:buNone/>
            </a:pPr>
            <a:r>
              <a:rPr lang="en-US" sz="1275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Reporting beyond basic admin stats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514350" y="4711415"/>
            <a:ext cx="8115300" cy="0"/>
          </a:xfrm>
          <a:prstGeom prst="line">
            <a:avLst/>
          </a:prstGeom>
          <a:noFill/>
          <a:ln w="7144">
            <a:solidFill>
              <a:srgbClr val="BFBF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4350" y="4772137"/>
            <a:ext cx="7719715" cy="22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Temariware — Senior Project Defense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54273" y="4772137"/>
            <a:ext cx="569457" cy="22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/ 27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478346"/>
          </a:xfrm>
          <a:prstGeom prst="rect">
            <a:avLst/>
          </a:prstGeom>
          <a:noFill/>
          <a:ln/>
        </p:spPr>
        <p:txBody>
          <a:bodyPr wrap="none" lIns="0" tIns="0" rIns="0" bIns="85725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Limitations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14350" y="1042988"/>
            <a:ext cx="8115300" cy="3738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Payment verification is manual (screenshot review) — introduces hours of latency, single point of failure.</a:t>
            </a:r>
            <a:endParaRPr lang="en-US" sz="1650" dirty="0"/>
          </a:p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System depends entirely on Telegram — no Telegram account, no access; outages affect availability.</a:t>
            </a:r>
            <a:endParaRPr lang="en-US" sz="1650" dirty="0"/>
          </a:p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Images stored as base64 in PostgreSQL (not object storage) — 1MB practical limit per image.</a:t>
            </a:r>
            <a:endParaRPr lang="en-US" sz="1650" dirty="0"/>
          </a:p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 automated authenticity checks on uploaded IDs — relies on admin visual inspection.</a:t>
            </a:r>
            <a:endParaRPr lang="en-US" sz="1650" dirty="0"/>
          </a:p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Currently supports only the Ethiopian market and three languages.</a:t>
            </a:r>
            <a:endParaRPr lang="en-US" sz="1650" dirty="0"/>
          </a:p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 in-app dispute resolution mechanism — handled via external Telegram chat.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514350" y="4711415"/>
            <a:ext cx="8115300" cy="0"/>
          </a:xfrm>
          <a:prstGeom prst="line">
            <a:avLst/>
          </a:prstGeom>
          <a:noFill/>
          <a:ln w="7144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4350" y="4772137"/>
            <a:ext cx="7719715" cy="22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Temariware — Senior Project Defense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54273" y="4772137"/>
            <a:ext cx="569457" cy="22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 / 27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521065" cy="478346"/>
          </a:xfrm>
          <a:prstGeom prst="rect">
            <a:avLst/>
          </a:prstGeom>
          <a:noFill/>
          <a:ln/>
        </p:spPr>
        <p:txBody>
          <a:bodyPr wrap="none" lIns="0" tIns="0" rIns="0" bIns="85725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Methodology &amp; Approach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14350" y="1042988"/>
            <a:ext cx="8115300" cy="31166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Object-Oriented Software Development approach (per university guideline).</a:t>
            </a:r>
            <a:endParaRPr lang="en-US" sz="1650" dirty="0"/>
          </a:p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Iterative and incremental development process — each iteration produces a working slice.</a:t>
            </a:r>
            <a:endParaRPr lang="en-US" sz="1650" dirty="0"/>
          </a:p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Loosely based on the Agile Unified Process — lightweight upfront design + continuous integration.</a:t>
            </a:r>
            <a:endParaRPr lang="en-US" sz="1650" dirty="0"/>
          </a:p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Five phases: Requirements, Design, Implementation, Testing, Deployment.</a:t>
            </a:r>
            <a:endParaRPr lang="en-US" sz="1650" dirty="0"/>
          </a:p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Each phase ends with advisor review milestone for continuous feedback.</a:t>
            </a:r>
            <a:endParaRPr lang="en-US" sz="1650" dirty="0"/>
          </a:p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Continuous deployment to Vercel staging environment throughout development.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514350" y="4711415"/>
            <a:ext cx="8115300" cy="0"/>
          </a:xfrm>
          <a:prstGeom prst="line">
            <a:avLst/>
          </a:prstGeom>
          <a:noFill/>
          <a:ln w="7144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4350" y="4772137"/>
            <a:ext cx="7719715" cy="22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Temariware — Senior Project Defense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54273" y="4772137"/>
            <a:ext cx="569457" cy="22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 / 27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521065" cy="478346"/>
          </a:xfrm>
          <a:prstGeom prst="rect">
            <a:avLst/>
          </a:prstGeom>
          <a:noFill/>
          <a:ln/>
        </p:spPr>
        <p:txBody>
          <a:bodyPr wrap="none" lIns="0" tIns="0" rIns="0" bIns="85725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Techniques &amp; Tools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14350" y="1042988"/>
            <a:ext cx="4813973" cy="300774"/>
          </a:xfrm>
          <a:prstGeom prst="rect">
            <a:avLst/>
          </a:prstGeom>
          <a:noFill/>
          <a:ln/>
        </p:spPr>
        <p:txBody>
          <a:bodyPr wrap="none" lIns="0" tIns="0" rIns="0" bIns="42863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spc="48" kern="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TECHNIQUES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14350" y="1378632"/>
            <a:ext cx="3971925" cy="1889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Object-Oriented Analysis (entities, relationships)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Use Case Modelling (actors + use cases)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CRC Modelling (class-responsibility-collaboration)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Sequence &amp; Activity Diagrams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Client-side image compression (Canvas API)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HMAC-SHA256 cryptographic validation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57725" y="1042988"/>
            <a:ext cx="4486275" cy="300774"/>
          </a:xfrm>
          <a:prstGeom prst="rect">
            <a:avLst/>
          </a:prstGeom>
          <a:noFill/>
          <a:ln/>
        </p:spPr>
        <p:txBody>
          <a:bodyPr wrap="none" lIns="0" tIns="0" rIns="0" bIns="42863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spc="48" kern="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TOOLS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57725" y="1378632"/>
            <a:ext cx="3971925" cy="2205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Next.js 16 with App Router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React 19 + TypeScript 5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Tailwind CSS 4 + shadcn/ui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Prisma ORM 6 + Neon Postgres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Vercel (deployment + CDN)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Telegram Bot API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Git + GitHub (version control)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478346"/>
          </a:xfrm>
          <a:prstGeom prst="rect">
            <a:avLst/>
          </a:prstGeom>
          <a:noFill/>
          <a:ln/>
        </p:spPr>
        <p:txBody>
          <a:bodyPr wrap="square" lIns="0" tIns="0" rIns="0" bIns="85725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Significance of the Project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14350" y="1042988"/>
            <a:ext cx="8115300" cy="2992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2"/>
              </a:lnSpc>
              <a:spcAft>
                <a:spcPts val="675"/>
              </a:spcAft>
              <a:buNone/>
            </a:pPr>
            <a:r>
              <a:rPr lang="en-US" sz="700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822"/>
              </a:lnSpc>
              <a:spcAft>
                <a:spcPts val="675"/>
              </a:spcAft>
              <a:buNone/>
            </a:pPr>
            <a:r>
              <a:rPr lang="en-US" sz="13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For Students:</a:t>
            </a:r>
            <a:pPr algn="l" indent="0" marL="0">
              <a:lnSpc>
                <a:spcPts val="1822"/>
              </a:lnSpc>
              <a:spcAft>
                <a:spcPts val="675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reduces friction of finding part-time work; subscribe to subject/location alerts; apply with one tap using pre-verified profile; mandatory documents build trust with employers.</a:t>
            </a:r>
            <a:endParaRPr lang="en-US" sz="1350" dirty="0"/>
          </a:p>
          <a:p>
            <a:pPr algn="l" indent="0" marL="0">
              <a:lnSpc>
                <a:spcPts val="1822"/>
              </a:lnSpc>
              <a:spcAft>
                <a:spcPts val="675"/>
              </a:spcAft>
              <a:buNone/>
            </a:pPr>
            <a:r>
              <a:rPr lang="en-US" sz="700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822"/>
              </a:lnSpc>
              <a:spcAft>
                <a:spcPts val="675"/>
              </a:spcAft>
              <a:buNone/>
            </a:pPr>
            <a:r>
              <a:rPr lang="en-US" sz="13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For Employers:</a:t>
            </a:r>
            <a:pPr algn="l" indent="0" marL="0">
              <a:lnSpc>
                <a:spcPts val="1822"/>
              </a:lnSpc>
              <a:spcAft>
                <a:spcPts val="675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structured applicant tracking; per-job application fee filters casual browsers; review documents in one panel; accept/reject with one tap; auto-close positions when hiring target met.</a:t>
            </a:r>
            <a:endParaRPr lang="en-US" sz="1350" dirty="0"/>
          </a:p>
          <a:p>
            <a:pPr algn="l" indent="0" marL="0">
              <a:lnSpc>
                <a:spcPts val="1822"/>
              </a:lnSpc>
              <a:spcAft>
                <a:spcPts val="675"/>
              </a:spcAft>
              <a:buNone/>
            </a:pPr>
            <a:r>
              <a:rPr lang="en-US" sz="700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822"/>
              </a:lnSpc>
              <a:spcAft>
                <a:spcPts val="675"/>
              </a:spcAft>
              <a:buNone/>
            </a:pPr>
            <a:r>
              <a:rPr lang="en-US" sz="13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For the Ecosystem:</a:t>
            </a:r>
            <a:pPr algn="l" indent="0" marL="0">
              <a:lnSpc>
                <a:spcPts val="1822"/>
              </a:lnSpc>
              <a:spcAft>
                <a:spcPts val="675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reference implementation of a production Telegram Mini App on free-tier infrastructure; demonstrates youth entrepreneurship without upfront capital; formalises a previously informal labour market.</a:t>
            </a:r>
            <a:endParaRPr lang="en-US" sz="1350" dirty="0"/>
          </a:p>
          <a:p>
            <a:pPr algn="l" indent="0" marL="0">
              <a:lnSpc>
                <a:spcPts val="1822"/>
              </a:lnSpc>
              <a:spcAft>
                <a:spcPts val="675"/>
              </a:spcAft>
              <a:buNone/>
            </a:pPr>
            <a:r>
              <a:rPr lang="en-US" sz="700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822"/>
              </a:lnSpc>
              <a:spcAft>
                <a:spcPts val="675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Creates data on youth employment patterns for future research.</a:t>
            </a:r>
            <a:endParaRPr lang="en-US" sz="1350" dirty="0"/>
          </a:p>
          <a:p>
            <a:pPr algn="l" indent="0" marL="0">
              <a:lnSpc>
                <a:spcPts val="1822"/>
              </a:lnSpc>
              <a:spcAft>
                <a:spcPts val="675"/>
              </a:spcAft>
              <a:buNone/>
            </a:pPr>
            <a:r>
              <a:rPr lang="en-US" sz="700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822"/>
              </a:lnSpc>
              <a:spcAft>
                <a:spcPts val="675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Sustainable revenue model through configurable fees.</a:t>
            </a:r>
            <a:endParaRPr lang="en-US" sz="1350" dirty="0"/>
          </a:p>
          <a:p>
            <a:pPr algn="l" indent="0" marL="0">
              <a:lnSpc>
                <a:spcPts val="1822"/>
              </a:lnSpc>
              <a:spcAft>
                <a:spcPts val="675"/>
              </a:spcAft>
              <a:buNone/>
            </a:pPr>
            <a:r>
              <a:rPr lang="en-US" sz="700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822"/>
              </a:lnSpc>
              <a:spcAft>
                <a:spcPts val="675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Multilingual (EN/AM/OR) ensures accessibility across Ethiopia.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14350" y="4711415"/>
            <a:ext cx="8115300" cy="0"/>
          </a:xfrm>
          <a:prstGeom prst="line">
            <a:avLst/>
          </a:prstGeom>
          <a:noFill/>
          <a:ln w="7144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4350" y="4772137"/>
            <a:ext cx="7942845" cy="22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Temariware — Senior Project Defense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12401" y="4772137"/>
            <a:ext cx="276331" cy="22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521065" cy="478346"/>
          </a:xfrm>
          <a:prstGeom prst="rect">
            <a:avLst/>
          </a:prstGeom>
          <a:noFill/>
          <a:ln/>
        </p:spPr>
        <p:txBody>
          <a:bodyPr wrap="none" lIns="0" tIns="0" rIns="0" bIns="85725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Work Breakdown Structure</a:t>
            </a:r>
            <a:endParaRPr lang="en-US" sz="2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4350" y="1042988"/>
          <a:ext cx="8115300" cy="914400"/>
        </p:xfrm>
        <a:graphic>
          <a:graphicData uri="http://schemas.openxmlformats.org/drawingml/2006/table">
            <a:tbl>
              <a:tblPr/>
              <a:tblGrid>
                <a:gridCol w="571500"/>
                <a:gridCol w="3341043"/>
                <a:gridCol w="961504"/>
                <a:gridCol w="323411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ID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71438" marR="85725" marT="85725" marB="7143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Work Package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71438" marR="85725" marT="85725" marB="7143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Duration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71438" marR="85725" marT="85725" marB="7143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Deliverables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71438" marR="85725" marT="85725" marB="7143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WP1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Requirements Elicitation &amp; Analysis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2 weeks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Requirements doc, use cases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WP2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System Design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2 weeks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Schema, API contracts, UI mockups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WP3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Database &amp; Backend Implementation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3 weeks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Prisma schema, API routes, auth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WP4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Frontend Mini App Implementation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3 weeks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All views, navigation, i18n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WP5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Bot Webhook &amp; Channel Integration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1 week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Bot commands, broadcasts, alerts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WP6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Testing, Deployment, Documentation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1 week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Deployed app, this document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14350" y="4186238"/>
            <a:ext cx="8115300" cy="428625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528638" y="4186238"/>
            <a:ext cx="0" cy="428625"/>
          </a:xfrm>
          <a:prstGeom prst="line">
            <a:avLst/>
          </a:prstGeom>
          <a:noFill/>
          <a:ln w="28575">
            <a:solidFill>
              <a:srgbClr val="1F4E7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14350" y="4186238"/>
            <a:ext cx="8115300" cy="462915"/>
          </a:xfrm>
          <a:prstGeom prst="rect">
            <a:avLst/>
          </a:prstGeom>
          <a:noFill/>
          <a:ln/>
        </p:spPr>
        <p:txBody>
          <a:bodyPr wrap="square" lIns="114300" tIns="71438" rIns="114300" bIns="71438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Total: ~16 person-weeks across 4 team members over 12 calendar weeks.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14350" y="4711415"/>
            <a:ext cx="8115300" cy="0"/>
          </a:xfrm>
          <a:prstGeom prst="line">
            <a:avLst/>
          </a:prstGeom>
          <a:noFill/>
          <a:ln w="7144">
            <a:solidFill>
              <a:srgbClr val="BFBFB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4350" y="4772137"/>
            <a:ext cx="7931460" cy="22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Temariware — Senior Project Defense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406708" y="4772137"/>
            <a:ext cx="276331" cy="22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521065" cy="478346"/>
          </a:xfrm>
          <a:prstGeom prst="rect">
            <a:avLst/>
          </a:prstGeom>
          <a:noFill/>
          <a:ln/>
        </p:spPr>
        <p:txBody>
          <a:bodyPr wrap="none" lIns="0" tIns="0" rIns="0" bIns="85725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Feasibility Analysis</a:t>
            </a:r>
            <a:endParaRPr lang="en-US" sz="2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4350" y="1042988"/>
          <a:ext cx="8115300" cy="914400"/>
        </p:xfrm>
        <a:graphic>
          <a:graphicData uri="http://schemas.openxmlformats.org/drawingml/2006/table">
            <a:tbl>
              <a:tblPr/>
              <a:tblGrid>
                <a:gridCol w="1236762"/>
                <a:gridCol w="5799832"/>
                <a:gridCol w="1071563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Dimension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71438" marR="85725" marT="85725" marB="7143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Analysis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71438" marR="85725" marT="85725" marB="7143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Verdict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71438" marR="85725" marT="85725" marB="7143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Technical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All tools are free, open-source, well-documented. Team has relevant coursework background.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Feasible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Economic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Zero monthly recurring cost (Vercel free + Neon free + Telegram Bot API free). Only cost is team time.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Feasible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Operational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Aligns with existing Telegram usage habits. No user training required. Document verification is intuitive.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Feasible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Schedule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12-week timeline with 4 team members. Iterative development with continuous integration.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Feasible (tight)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14350" y="4514850"/>
            <a:ext cx="8115300" cy="676201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528638" y="4514850"/>
            <a:ext cx="0" cy="676201"/>
          </a:xfrm>
          <a:prstGeom prst="line">
            <a:avLst/>
          </a:prstGeom>
          <a:noFill/>
          <a:ln w="28575">
            <a:solidFill>
              <a:srgbClr val="1F4E7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14350" y="4514850"/>
            <a:ext cx="8115300" cy="628650"/>
          </a:xfrm>
          <a:prstGeom prst="rect">
            <a:avLst/>
          </a:prstGeom>
          <a:noFill/>
          <a:ln/>
        </p:spPr>
        <p:txBody>
          <a:bodyPr wrap="square" lIns="114300" tIns="71438" rIns="114300" bIns="71438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Main risk: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single administrator for payment verification — mitigated in v2 via Chapa API integration.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14350" y="4711415"/>
            <a:ext cx="8115300" cy="0"/>
          </a:xfrm>
          <a:prstGeom prst="line">
            <a:avLst/>
          </a:prstGeom>
          <a:noFill/>
          <a:ln w="7144">
            <a:solidFill>
              <a:srgbClr val="BFBFB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4350" y="4772137"/>
            <a:ext cx="7931460" cy="22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Temariware — Senior Project Defense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406708" y="4772137"/>
            <a:ext cx="276331" cy="22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478346"/>
          </a:xfrm>
          <a:prstGeom prst="rect">
            <a:avLst/>
          </a:prstGeom>
          <a:noFill/>
          <a:ln/>
        </p:spPr>
        <p:txBody>
          <a:bodyPr wrap="square" lIns="0" tIns="0" rIns="0" bIns="85725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Current System Description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14350" y="1042988"/>
            <a:ext cx="8115300" cy="2805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Informal Telegram channels (Afriwork, Yegna Tutors Harrar) broadcast job posts as free text.</a:t>
            </a:r>
            <a:endParaRPr lang="en-US" sz="1650" dirty="0"/>
          </a:p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Employer composes a free-text message and forwards to channel operator's bot.</a:t>
            </a:r>
            <a:endParaRPr lang="en-US" sz="1650" dirty="0"/>
          </a:p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Operator manually reviews, reformats, and publishes to the channel.</a:t>
            </a:r>
            <a:endParaRPr lang="en-US" sz="1650" dirty="0"/>
          </a:p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Interested students forward the post + CV to employer's personal Telegram.</a:t>
            </a:r>
            <a:endParaRPr lang="en-US" sz="1650" dirty="0"/>
          </a:p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Employer reviews applications in private chat, contacts candidates directly.</a:t>
            </a:r>
            <a:endParaRPr lang="en-US" sz="1650" dirty="0"/>
          </a:p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Payments (when required) made via Telebirr with no formal record.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514350" y="3724238"/>
            <a:ext cx="8115300" cy="1085738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28638" y="3724238"/>
            <a:ext cx="0" cy="1085738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4350" y="3724238"/>
            <a:ext cx="8115300" cy="1172597"/>
          </a:xfrm>
          <a:prstGeom prst="rect">
            <a:avLst/>
          </a:prstGeom>
          <a:noFill/>
          <a:ln/>
        </p:spPr>
        <p:txBody>
          <a:bodyPr wrap="square" lIns="171450" tIns="142875" rIns="171450" bIns="142875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current "system" is a manual, chat-based workflow — fast and familiar, but with no structure, no archive, and no audit trail. Temariware preserves the speed while adding the missing scaffolding.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14350" y="4711415"/>
            <a:ext cx="8115300" cy="0"/>
          </a:xfrm>
          <a:prstGeom prst="line">
            <a:avLst/>
          </a:prstGeom>
          <a:noFill/>
          <a:ln w="7144">
            <a:solidFill>
              <a:srgbClr val="BFB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4350" y="4772137"/>
            <a:ext cx="7931460" cy="22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Temariware — Senior Project Defense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06708" y="4772137"/>
            <a:ext cx="276331" cy="22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478346"/>
          </a:xfrm>
          <a:prstGeom prst="rect">
            <a:avLst/>
          </a:prstGeom>
          <a:noFill/>
          <a:ln/>
        </p:spPr>
        <p:txBody>
          <a:bodyPr wrap="square" lIns="0" tIns="0" rIns="0" bIns="85725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Functional Requirements (Key)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14350" y="1042988"/>
            <a:ext cx="4779340" cy="362617"/>
          </a:xfrm>
          <a:prstGeom prst="rect">
            <a:avLst/>
          </a:prstGeom>
          <a:noFill/>
          <a:ln/>
        </p:spPr>
        <p:txBody>
          <a:bodyPr wrap="none" lIns="0" tIns="0" rIns="0" bIns="42863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spc="60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FR-01 TO FR-05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14350" y="1464469"/>
            <a:ext cx="3943350" cy="317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25"/>
              </a:lnSpc>
              <a:spcAft>
                <a:spcPts val="563"/>
              </a:spcAft>
              <a:buSzPct val="100000"/>
              <a:buChar char="•"/>
            </a:pPr>
            <a:r>
              <a:rPr lang="en-US" sz="1500" b="1" dirty="0">
                <a:solidFill>
                  <a:srgbClr val="1F4E7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FR-01:</a:t>
            </a:r>
            <a:pPr algn="l" indent="0" marL="0">
              <a:lnSpc>
                <a:spcPts val="2025"/>
              </a:lnSpc>
              <a:spcAft>
                <a:spcPts val="563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Authenticate users via Telegram initData HMAC-SHA256</a:t>
            </a:r>
            <a:endParaRPr lang="en-US" sz="1500" dirty="0"/>
          </a:p>
          <a:p>
            <a:pPr algn="l" marL="342900" indent="-342900">
              <a:lnSpc>
                <a:spcPts val="2025"/>
              </a:lnSpc>
              <a:spcAft>
                <a:spcPts val="563"/>
              </a:spcAft>
              <a:buSzPct val="100000"/>
              <a:buChar char="•"/>
            </a:pPr>
            <a:r>
              <a:rPr lang="en-US" sz="1500" b="1" dirty="0">
                <a:solidFill>
                  <a:srgbClr val="1F4E7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FR-02:</a:t>
            </a:r>
            <a:pPr algn="l" indent="0" marL="0">
              <a:lnSpc>
                <a:spcPts val="2025"/>
              </a:lnSpc>
              <a:spcAft>
                <a:spcPts val="563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Browse approved jobs without authentication</a:t>
            </a:r>
            <a:endParaRPr lang="en-US" sz="1500" dirty="0"/>
          </a:p>
          <a:p>
            <a:pPr algn="l" marL="342900" indent="-342900">
              <a:lnSpc>
                <a:spcPts val="2025"/>
              </a:lnSpc>
              <a:spcAft>
                <a:spcPts val="563"/>
              </a:spcAft>
              <a:buSzPct val="100000"/>
              <a:buChar char="•"/>
            </a:pPr>
            <a:r>
              <a:rPr lang="en-US" sz="1500" b="1" dirty="0">
                <a:solidFill>
                  <a:srgbClr val="1F4E7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FR-03:</a:t>
            </a:r>
            <a:pPr algn="l" indent="0" marL="0">
              <a:lnSpc>
                <a:spcPts val="2025"/>
              </a:lnSpc>
              <a:spcAft>
                <a:spcPts val="563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Filter jobs by subject, location, type, gender, search</a:t>
            </a:r>
            <a:endParaRPr lang="en-US" sz="1500" dirty="0"/>
          </a:p>
          <a:p>
            <a:pPr algn="l" marL="342900" indent="-342900">
              <a:lnSpc>
                <a:spcPts val="2025"/>
              </a:lnSpc>
              <a:spcAft>
                <a:spcPts val="563"/>
              </a:spcAft>
              <a:buSzPct val="100000"/>
              <a:buChar char="•"/>
            </a:pPr>
            <a:r>
              <a:rPr lang="en-US" sz="1500" b="1" dirty="0">
                <a:solidFill>
                  <a:srgbClr val="1F4E7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FR-04:</a:t>
            </a:r>
            <a:pPr algn="l" indent="0" marL="0">
              <a:lnSpc>
                <a:spcPts val="2025"/>
              </a:lnSpc>
              <a:spcAft>
                <a:spcPts val="563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Upload National ID, University ID, grade report with compression</a:t>
            </a:r>
            <a:endParaRPr lang="en-US" sz="1500" dirty="0"/>
          </a:p>
          <a:p>
            <a:pPr algn="l" marL="342900" indent="-342900">
              <a:lnSpc>
                <a:spcPts val="2025"/>
              </a:lnSpc>
              <a:spcAft>
                <a:spcPts val="563"/>
              </a:spcAft>
              <a:buSzPct val="100000"/>
              <a:buChar char="•"/>
            </a:pPr>
            <a:r>
              <a:rPr lang="en-US" sz="1500" b="1" dirty="0">
                <a:solidFill>
                  <a:srgbClr val="1F4E7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FR-05:</a:t>
            </a:r>
            <a:pPr algn="l" indent="0" marL="0">
              <a:lnSpc>
                <a:spcPts val="2025"/>
              </a:lnSpc>
              <a:spcAft>
                <a:spcPts val="563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Block applications from students with incomplete profiles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686300" y="1042988"/>
            <a:ext cx="4457700" cy="362617"/>
          </a:xfrm>
          <a:prstGeom prst="rect">
            <a:avLst/>
          </a:prstGeom>
          <a:noFill/>
          <a:ln/>
        </p:spPr>
        <p:txBody>
          <a:bodyPr wrap="none" lIns="0" tIns="0" rIns="0" bIns="42863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spc="60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FR-06 TO FR-10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686300" y="1464469"/>
            <a:ext cx="3943350" cy="317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25"/>
              </a:lnSpc>
              <a:spcAft>
                <a:spcPts val="563"/>
              </a:spcAft>
              <a:buSzPct val="100000"/>
              <a:buChar char="•"/>
            </a:pPr>
            <a:r>
              <a:rPr lang="en-US" sz="1500" b="1" dirty="0">
                <a:solidFill>
                  <a:srgbClr val="1F4E7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FR-06:</a:t>
            </a:r>
            <a:pPr algn="l" indent="0" marL="0">
              <a:lnSpc>
                <a:spcPts val="2025"/>
              </a:lnSpc>
              <a:spcAft>
                <a:spcPts val="563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Verified employers post jobs with all metadata</a:t>
            </a:r>
            <a:endParaRPr lang="en-US" sz="1500" dirty="0"/>
          </a:p>
          <a:p>
            <a:pPr algn="l" marL="342900" indent="-342900">
              <a:lnSpc>
                <a:spcPts val="2025"/>
              </a:lnSpc>
              <a:spcAft>
                <a:spcPts val="563"/>
              </a:spcAft>
              <a:buSzPct val="100000"/>
              <a:buChar char="•"/>
            </a:pPr>
            <a:r>
              <a:rPr lang="en-US" sz="1500" b="1" dirty="0">
                <a:solidFill>
                  <a:srgbClr val="1F4E7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FR-07:</a:t>
            </a:r>
            <a:pPr algn="l" indent="0" marL="0">
              <a:lnSpc>
                <a:spcPts val="2025"/>
              </a:lnSpc>
              <a:spcAft>
                <a:spcPts val="563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Require payment screenshot when jobPostFee &gt; 0</a:t>
            </a:r>
            <a:endParaRPr lang="en-US" sz="1500" dirty="0"/>
          </a:p>
          <a:p>
            <a:pPr algn="l" marL="342900" indent="-342900">
              <a:lnSpc>
                <a:spcPts val="2025"/>
              </a:lnSpc>
              <a:spcAft>
                <a:spcPts val="563"/>
              </a:spcAft>
              <a:buSzPct val="100000"/>
              <a:buChar char="•"/>
            </a:pPr>
            <a:r>
              <a:rPr lang="en-US" sz="1500" b="1" dirty="0">
                <a:solidFill>
                  <a:srgbClr val="1F4E7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FR-08:</a:t>
            </a:r>
            <a:pPr algn="l" indent="0" marL="0">
              <a:lnSpc>
                <a:spcPts val="2025"/>
              </a:lnSpc>
              <a:spcAft>
                <a:spcPts val="563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Admins approve/reject pending jobs with reason</a:t>
            </a:r>
            <a:endParaRPr lang="en-US" sz="1500" dirty="0"/>
          </a:p>
          <a:p>
            <a:pPr algn="l" marL="342900" indent="-342900">
              <a:lnSpc>
                <a:spcPts val="2025"/>
              </a:lnSpc>
              <a:spcAft>
                <a:spcPts val="563"/>
              </a:spcAft>
              <a:buSzPct val="100000"/>
              <a:buChar char="•"/>
            </a:pPr>
            <a:r>
              <a:rPr lang="en-US" sz="1500" b="1" dirty="0">
                <a:solidFill>
                  <a:srgbClr val="1F4E7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FR-09:</a:t>
            </a:r>
            <a:pPr algn="l" indent="0" marL="0">
              <a:lnSpc>
                <a:spcPts val="2025"/>
              </a:lnSpc>
              <a:spcAft>
                <a:spcPts val="563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Broadcast approved jobs to @TEMARIWARE channel</a:t>
            </a:r>
            <a:endParaRPr lang="en-US" sz="1500" dirty="0"/>
          </a:p>
          <a:p>
            <a:pPr algn="l" marL="342900" indent="-342900">
              <a:lnSpc>
                <a:spcPts val="2025"/>
              </a:lnSpc>
              <a:spcAft>
                <a:spcPts val="563"/>
              </a:spcAft>
              <a:buSzPct val="100000"/>
              <a:buChar char="•"/>
            </a:pPr>
            <a:r>
              <a:rPr lang="en-US" sz="1500" b="1" dirty="0">
                <a:solidFill>
                  <a:srgbClr val="1F4E7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FR-10:</a:t>
            </a:r>
            <a:pPr algn="l" indent="0" marL="0">
              <a:lnSpc>
                <a:spcPts val="2025"/>
              </a:lnSpc>
              <a:spcAft>
                <a:spcPts val="563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Push alerts to subscribers matching job category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4350" y="4622006"/>
            <a:ext cx="8115300" cy="428625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28638" y="4622006"/>
            <a:ext cx="0" cy="428625"/>
          </a:xfrm>
          <a:prstGeom prst="line">
            <a:avLst/>
          </a:prstGeom>
          <a:noFill/>
          <a:ln w="28575">
            <a:solidFill>
              <a:srgbClr val="1F4E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4350" y="4622006"/>
            <a:ext cx="8115300" cy="462915"/>
          </a:xfrm>
          <a:prstGeom prst="rect">
            <a:avLst/>
          </a:prstGeom>
          <a:noFill/>
          <a:ln/>
        </p:spPr>
        <p:txBody>
          <a:bodyPr wrap="square" lIns="114300" tIns="71438" rIns="114300" bIns="71438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Full list: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20 functional requirements documented in Chapter 2, Table 2.1.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14350" y="4711415"/>
            <a:ext cx="8115300" cy="0"/>
          </a:xfrm>
          <a:prstGeom prst="line">
            <a:avLst/>
          </a:prstGeom>
          <a:noFill/>
          <a:ln w="7144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4350" y="4772137"/>
            <a:ext cx="7931460" cy="22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Temariware — Senior Project Defense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06708" y="4772137"/>
            <a:ext cx="276331" cy="22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478346"/>
          </a:xfrm>
          <a:prstGeom prst="rect">
            <a:avLst/>
          </a:prstGeom>
          <a:noFill/>
          <a:ln/>
        </p:spPr>
        <p:txBody>
          <a:bodyPr wrap="square" lIns="0" tIns="0" rIns="0" bIns="85725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Non-Functional Requirements</a:t>
            </a:r>
            <a:endParaRPr lang="en-US" sz="22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4350" y="1042988"/>
          <a:ext cx="8115300" cy="914400"/>
        </p:xfrm>
        <a:graphic>
          <a:graphicData uri="http://schemas.openxmlformats.org/drawingml/2006/table">
            <a:tbl>
              <a:tblPr/>
              <a:tblGrid>
                <a:gridCol w="761367"/>
                <a:gridCol w="1302730"/>
                <a:gridCol w="6044059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5" b="1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ID</a:t>
                      </a:r>
                      <a:endParaRPr lang="en-US" sz="1275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71438" marR="85725" marT="85725" marB="7143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5" b="1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Category</a:t>
                      </a:r>
                      <a:endParaRPr lang="en-US" sz="1275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71438" marR="85725" marT="85725" marB="7143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5" b="1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Requirement</a:t>
                      </a:r>
                      <a:endParaRPr lang="en-US" sz="1275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71438" marR="85725" marT="85725" marB="7143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5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NFR-01</a:t>
                      </a:r>
                      <a:endParaRPr lang="en-US" sz="1275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85725" marT="85725" marB="71438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5" b="1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Performance</a:t>
                      </a:r>
                      <a:endParaRPr lang="en-US" sz="1275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71438" marR="85725" marT="85725" marB="71438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API response &lt; 500ms (95th percentile); Mini App first paint &lt; 2s on 3G</a:t>
                      </a:r>
                      <a:endParaRPr lang="en-US" sz="1275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71438" marR="85725" marT="85725" marB="71438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5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NFR-02</a:t>
                      </a:r>
                      <a:endParaRPr lang="en-US" sz="1275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85725" marT="85725" marB="71438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5" b="1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Security</a:t>
                      </a:r>
                      <a:endParaRPr lang="en-US" sz="1275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71438" marR="85725" marT="85725" marB="71438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HMAC-SHA256 auth; HTTPS only; no plaintext payment data</a:t>
                      </a:r>
                      <a:endParaRPr lang="en-US" sz="1275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71438" marR="85725" marT="85725" marB="71438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5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NFR-03</a:t>
                      </a:r>
                      <a:endParaRPr lang="en-US" sz="1275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85725" marT="85725" marB="71438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5" b="1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Usability</a:t>
                      </a:r>
                      <a:endParaRPr lang="en-US" sz="1275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71438" marR="85725" marT="85725" marB="71438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360px-wide screen support; 3 languages; 44px touch targets; haptic feedback</a:t>
                      </a:r>
                      <a:endParaRPr lang="en-US" sz="1275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71438" marR="85725" marT="85725" marB="71438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5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NFR-04</a:t>
                      </a:r>
                      <a:endParaRPr lang="en-US" sz="1275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85725" marT="85725" marB="71438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5" b="1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Reliability</a:t>
                      </a:r>
                      <a:endParaRPr lang="en-US" sz="1275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71438" marR="85725" marT="85725" marB="71438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99% uptime (Vercel SLA); graceful error handling</a:t>
                      </a:r>
                      <a:endParaRPr lang="en-US" sz="1275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71438" marR="85725" marT="85725" marB="71438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5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NFR-05</a:t>
                      </a:r>
                      <a:endParaRPr lang="en-US" sz="1275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85725" marT="85725" marB="71438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5" b="1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Scalability</a:t>
                      </a:r>
                      <a:endParaRPr lang="en-US" sz="1275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71438" marR="85725" marT="85725" marB="71438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Serverless scales to 1000 concurrent users on free tier</a:t>
                      </a:r>
                      <a:endParaRPr lang="en-US" sz="1275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71438" marR="85725" marT="85725" marB="71438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5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NFR-06</a:t>
                      </a:r>
                      <a:endParaRPr lang="en-US" sz="1275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85725" marT="85725" marB="71438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5" b="1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Maintainability</a:t>
                      </a:r>
                      <a:endParaRPr lang="en-US" sz="1275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71438" marR="85725" marT="85725" marB="71438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TypeScript throughout; modular components; lint-clean</a:t>
                      </a:r>
                      <a:endParaRPr lang="en-US" sz="1275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71438" marR="85725" marT="85725" marB="71438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5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NFR-07</a:t>
                      </a:r>
                      <a:endParaRPr lang="en-US" sz="1275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85725" marT="85725" marB="71438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5" b="1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Compatibility</a:t>
                      </a:r>
                      <a:endParaRPr lang="en-US" sz="1275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71438" marR="85725" marT="85725" marB="71438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Telegram mobile (iOS/Android), Desktop, Web; modern browser fallback</a:t>
                      </a:r>
                      <a:endParaRPr lang="en-US" sz="1275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71438" marR="85725" marT="85725" marB="71438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14350" y="4711415"/>
            <a:ext cx="8115300" cy="0"/>
          </a:xfrm>
          <a:prstGeom prst="line">
            <a:avLst/>
          </a:prstGeom>
          <a:noFill/>
          <a:ln w="7144">
            <a:solidFill>
              <a:srgbClr val="BFBFB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14350" y="4772137"/>
            <a:ext cx="7931460" cy="22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Temariware — Senior Project Defense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406708" y="4772137"/>
            <a:ext cx="276331" cy="22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478346"/>
          </a:xfrm>
          <a:prstGeom prst="rect">
            <a:avLst/>
          </a:prstGeom>
          <a:noFill/>
          <a:ln/>
        </p:spPr>
        <p:txBody>
          <a:bodyPr wrap="square" lIns="0" tIns="0" rIns="0" bIns="85725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Business Rules &amp; Constraints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14350" y="1042988"/>
            <a:ext cx="4779340" cy="362617"/>
          </a:xfrm>
          <a:prstGeom prst="rect">
            <a:avLst/>
          </a:prstGeom>
          <a:noFill/>
          <a:ln/>
        </p:spPr>
        <p:txBody>
          <a:bodyPr wrap="none" lIns="0" tIns="0" rIns="0" bIns="42863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spc="60" kern="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KEY BUSINESS RULES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14350" y="1464469"/>
            <a:ext cx="3943350" cy="3148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2"/>
              </a:lnSpc>
              <a:spcAft>
                <a:spcPts val="563"/>
              </a:spcAft>
              <a:buNone/>
            </a:pPr>
            <a:r>
              <a:rPr lang="en-US" sz="700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822"/>
              </a:lnSpc>
              <a:spcAft>
                <a:spcPts val="563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Only verified employers or admins can post jobs.</a:t>
            </a:r>
            <a:endParaRPr lang="en-US" sz="1350" dirty="0"/>
          </a:p>
          <a:p>
            <a:pPr algn="l" indent="0" marL="0">
              <a:lnSpc>
                <a:spcPts val="1822"/>
              </a:lnSpc>
              <a:spcAft>
                <a:spcPts val="563"/>
              </a:spcAft>
              <a:buNone/>
            </a:pPr>
            <a:r>
              <a:rPr lang="en-US" sz="700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822"/>
              </a:lnSpc>
              <a:spcAft>
                <a:spcPts val="563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Students cannot apply until profile is complete (3 documents uploaded).</a:t>
            </a:r>
            <a:endParaRPr lang="en-US" sz="1350" dirty="0"/>
          </a:p>
          <a:p>
            <a:pPr algn="l" indent="0" marL="0">
              <a:lnSpc>
                <a:spcPts val="1822"/>
              </a:lnSpc>
              <a:spcAft>
                <a:spcPts val="563"/>
              </a:spcAft>
              <a:buNone/>
            </a:pPr>
            <a:r>
              <a:rPr lang="en-US" sz="700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822"/>
              </a:lnSpc>
              <a:spcAft>
                <a:spcPts val="563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One application per student per job (unique constraint).</a:t>
            </a:r>
            <a:endParaRPr lang="en-US" sz="1350" dirty="0"/>
          </a:p>
          <a:p>
            <a:pPr algn="l" indent="0" marL="0">
              <a:lnSpc>
                <a:spcPts val="1822"/>
              </a:lnSpc>
              <a:spcAft>
                <a:spcPts val="563"/>
              </a:spcAft>
              <a:buNone/>
            </a:pPr>
            <a:r>
              <a:rPr lang="en-US" sz="700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822"/>
              </a:lnSpc>
              <a:spcAft>
                <a:spcPts val="563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Job posting requires payment screenshot (default 500 ETB).</a:t>
            </a:r>
            <a:endParaRPr lang="en-US" sz="1350" dirty="0"/>
          </a:p>
          <a:p>
            <a:pPr algn="l" indent="0" marL="0">
              <a:lnSpc>
                <a:spcPts val="1822"/>
              </a:lnSpc>
              <a:spcAft>
                <a:spcPts val="563"/>
              </a:spcAft>
              <a:buNone/>
            </a:pPr>
            <a:r>
              <a:rPr lang="en-US" sz="700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822"/>
              </a:lnSpc>
              <a:spcAft>
                <a:spcPts val="563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Application fees are per-job configurable by employer.</a:t>
            </a:r>
            <a:endParaRPr lang="en-US" sz="1350" dirty="0"/>
          </a:p>
          <a:p>
            <a:pPr algn="l" indent="0" marL="0">
              <a:lnSpc>
                <a:spcPts val="1822"/>
              </a:lnSpc>
              <a:spcAft>
                <a:spcPts val="563"/>
              </a:spcAft>
              <a:buNone/>
            </a:pPr>
            <a:r>
              <a:rPr lang="en-US" sz="700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822"/>
              </a:lnSpc>
              <a:spcAft>
                <a:spcPts val="563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Auto-close when filledPositions reaches positionsAvailable.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686300" y="1042988"/>
            <a:ext cx="4457700" cy="362617"/>
          </a:xfrm>
          <a:prstGeom prst="rect">
            <a:avLst/>
          </a:prstGeom>
          <a:noFill/>
          <a:ln/>
        </p:spPr>
        <p:txBody>
          <a:bodyPr wrap="none" lIns="0" tIns="0" rIns="0" bIns="42863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spc="60" kern="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KEY CONSTRAINTS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686300" y="1464469"/>
            <a:ext cx="3943350" cy="2412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2"/>
              </a:lnSpc>
              <a:spcAft>
                <a:spcPts val="563"/>
              </a:spcAft>
              <a:buNone/>
            </a:pPr>
            <a:r>
              <a:rPr lang="en-US" sz="700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822"/>
              </a:lnSpc>
              <a:spcAft>
                <a:spcPts val="563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Free-tier infrastructure only (zero recurring cost).</a:t>
            </a:r>
            <a:endParaRPr lang="en-US" sz="1350" dirty="0"/>
          </a:p>
          <a:p>
            <a:pPr algn="l" indent="0" marL="0">
              <a:lnSpc>
                <a:spcPts val="1822"/>
              </a:lnSpc>
              <a:spcAft>
                <a:spcPts val="563"/>
              </a:spcAft>
              <a:buNone/>
            </a:pPr>
            <a:r>
              <a:rPr lang="en-US" sz="700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822"/>
              </a:lnSpc>
              <a:spcAft>
                <a:spcPts val="563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Screenshot-based payment (no Chapa API in v1).</a:t>
            </a:r>
            <a:endParaRPr lang="en-US" sz="1350" dirty="0"/>
          </a:p>
          <a:p>
            <a:pPr algn="l" indent="0" marL="0">
              <a:lnSpc>
                <a:spcPts val="1822"/>
              </a:lnSpc>
              <a:spcAft>
                <a:spcPts val="563"/>
              </a:spcAft>
              <a:buNone/>
            </a:pPr>
            <a:r>
              <a:rPr lang="en-US" sz="700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822"/>
              </a:lnSpc>
              <a:spcAft>
                <a:spcPts val="563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Images stored as base64 in PostgreSQL (1MB max).</a:t>
            </a:r>
            <a:endParaRPr lang="en-US" sz="1350" dirty="0"/>
          </a:p>
          <a:p>
            <a:pPr algn="l" indent="0" marL="0">
              <a:lnSpc>
                <a:spcPts val="1822"/>
              </a:lnSpc>
              <a:spcAft>
                <a:spcPts val="563"/>
              </a:spcAft>
              <a:buNone/>
            </a:pPr>
            <a:r>
              <a:rPr lang="en-US" sz="700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822"/>
              </a:lnSpc>
              <a:spcAft>
                <a:spcPts val="563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Mini App runs inside Telegram WebApp container.</a:t>
            </a:r>
            <a:endParaRPr lang="en-US" sz="1350" dirty="0"/>
          </a:p>
          <a:p>
            <a:pPr algn="l" indent="0" marL="0">
              <a:lnSpc>
                <a:spcPts val="1822"/>
              </a:lnSpc>
              <a:spcAft>
                <a:spcPts val="563"/>
              </a:spcAft>
              <a:buNone/>
            </a:pPr>
            <a:r>
              <a:rPr lang="en-US" sz="700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822"/>
              </a:lnSpc>
              <a:spcAft>
                <a:spcPts val="563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 web_app buttons in channel posts (only URL buttons).</a:t>
            </a:r>
            <a:endParaRPr lang="en-US" sz="1350" dirty="0"/>
          </a:p>
          <a:p>
            <a:pPr algn="l" indent="0" marL="0">
              <a:lnSpc>
                <a:spcPts val="1822"/>
              </a:lnSpc>
              <a:spcAft>
                <a:spcPts val="563"/>
              </a:spcAft>
              <a:buNone/>
            </a:pPr>
            <a:r>
              <a:rPr lang="en-US" sz="700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822"/>
              </a:lnSpc>
              <a:spcAft>
                <a:spcPts val="563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Three languages with runtime switching.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14350" y="4711415"/>
            <a:ext cx="8115300" cy="0"/>
          </a:xfrm>
          <a:prstGeom prst="line">
            <a:avLst/>
          </a:prstGeom>
          <a:noFill/>
          <a:ln w="7144">
            <a:solidFill>
              <a:srgbClr val="BFB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4350" y="4772137"/>
            <a:ext cx="7931460" cy="22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Temariware — Senior Project Defense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06708" y="4772137"/>
            <a:ext cx="276331" cy="22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521065" cy="478346"/>
          </a:xfrm>
          <a:prstGeom prst="rect">
            <a:avLst/>
          </a:prstGeom>
          <a:noFill/>
          <a:ln/>
        </p:spPr>
        <p:txBody>
          <a:bodyPr wrap="none" lIns="0" tIns="0" rIns="0" bIns="85725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Essential Use Case Model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14350" y="1042988"/>
            <a:ext cx="862965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i="1" dirty="0">
                <a:solidFill>
                  <a:srgbClr val="5959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Four primary actors, fifteen use cases.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14350" y="1557338"/>
            <a:ext cx="3943350" cy="1139986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28638" y="1557338"/>
            <a:ext cx="0" cy="1139986"/>
          </a:xfrm>
          <a:prstGeom prst="line">
            <a:avLst/>
          </a:prstGeom>
          <a:noFill/>
          <a:ln w="28575">
            <a:solidFill>
              <a:srgbClr val="1F4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2938" y="1643063"/>
            <a:ext cx="3714750" cy="3011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spc="60" kern="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STUDENT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2938" y="1971675"/>
            <a:ext cx="3714750" cy="639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Browse Job Feed, View Job Detail, Complete Profile, Apply to Job, Subscribe to Alerts, Upload Payment, View My Applications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14350" y="2797336"/>
            <a:ext cx="3943350" cy="926678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28638" y="2797336"/>
            <a:ext cx="0" cy="926678"/>
          </a:xfrm>
          <a:prstGeom prst="line">
            <a:avLst/>
          </a:prstGeom>
          <a:noFill/>
          <a:ln w="28575">
            <a:solidFill>
              <a:srgbClr val="1F4E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938" y="2883061"/>
            <a:ext cx="3714750" cy="3011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spc="60" kern="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EMPLOYER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2938" y="3211674"/>
            <a:ext cx="3714750" cy="42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Post Job, Review Applicants, Accept Applicant, Reject Applicant, Verify Employer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86300" y="1557338"/>
            <a:ext cx="3943350" cy="926678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700588" y="1557338"/>
            <a:ext cx="0" cy="926678"/>
          </a:xfrm>
          <a:prstGeom prst="line">
            <a:avLst/>
          </a:prstGeom>
          <a:noFill/>
          <a:ln w="28575">
            <a:solidFill>
              <a:srgbClr val="1F4E7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4888" y="1643063"/>
            <a:ext cx="3714750" cy="3011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spc="60" kern="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ADMINISTRATOR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14888" y="1971675"/>
            <a:ext cx="3714750" cy="42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Approve Job, Approve Payment, Approve Verification, Configure Settings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86300" y="2584028"/>
            <a:ext cx="3943350" cy="926678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00588" y="2584028"/>
            <a:ext cx="0" cy="926678"/>
          </a:xfrm>
          <a:prstGeom prst="line">
            <a:avLst/>
          </a:prstGeom>
          <a:noFill/>
          <a:ln w="28575">
            <a:solidFill>
              <a:srgbClr val="1F4E7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4888" y="2669753"/>
            <a:ext cx="3714750" cy="3011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spc="60" kern="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TELEGRAM BOT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14888" y="2998366"/>
            <a:ext cx="3714750" cy="42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Handle Slash Commands, Push Job Alerts, Broadcast to Channel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4350" y="4158779"/>
            <a:ext cx="8115300" cy="641821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28638" y="4158779"/>
            <a:ext cx="0" cy="641821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4350" y="4158779"/>
            <a:ext cx="8115300" cy="693167"/>
          </a:xfrm>
          <a:prstGeom prst="rect">
            <a:avLst/>
          </a:prstGeom>
          <a:noFill/>
          <a:ln/>
        </p:spPr>
        <p:txBody>
          <a:bodyPr wrap="square" lIns="128588" tIns="100013" rIns="128588" bIns="100013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Include</a:t>
            </a:r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relationship: </a:t>
            </a:r>
            <a:pPr algn="l" indent="0" marL="0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Apply to Job</a:t>
            </a:r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includes </a:t>
            </a:r>
            <a:pPr algn="l" indent="0" marL="0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Check Profile Complete</a:t>
            </a:r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. </a:t>
            </a:r>
            <a:pPr algn="l" indent="0" marL="0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Extend</a:t>
            </a:r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relationship: </a:t>
            </a:r>
            <a:pPr algn="l" indent="0" marL="0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Post Job</a:t>
            </a:r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extends </a:t>
            </a:r>
            <a:pPr algn="l" indent="0" marL="0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Upload Payment Screenshot</a:t>
            </a:r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(only when fee &gt; 0). Full use case diagram in Chapter 2, Figure 2.7.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14350" y="4711415"/>
            <a:ext cx="8115300" cy="0"/>
          </a:xfrm>
          <a:prstGeom prst="line">
            <a:avLst/>
          </a:prstGeom>
          <a:noFill/>
          <a:ln w="7144">
            <a:solidFill>
              <a:srgbClr val="BFBF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4350" y="4772137"/>
            <a:ext cx="7931460" cy="22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Temariware — Senior Project Defense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06708" y="4772137"/>
            <a:ext cx="276331" cy="22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521065" cy="478346"/>
          </a:xfrm>
          <a:prstGeom prst="rect">
            <a:avLst/>
          </a:prstGeom>
          <a:noFill/>
          <a:ln/>
        </p:spPr>
        <p:txBody>
          <a:bodyPr wrap="none" lIns="0" tIns="0" rIns="0" bIns="85725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Conceptual Class Model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14350" y="1042988"/>
            <a:ext cx="8115300" cy="342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Seven primary classes: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User, Job, Application, Subscription, VerificationRequest, Setting, Payment.</a:t>
            </a:r>
            <a:endParaRPr lang="en-US" sz="1650" dirty="0"/>
          </a:p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User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has many Jobs (as employer), many Applications (as student), many Subscriptions, and may have one VerificationRequest.</a:t>
            </a:r>
            <a:endParaRPr lang="en-US" sz="1650" dirty="0"/>
          </a:p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Job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has many Applications and may have associated Payments.</a:t>
            </a:r>
            <a:endParaRPr lang="en-US" sz="1650" dirty="0"/>
          </a:p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An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Application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belongs to one User and one Job, with a unique constraint on (jobId, userId).</a:t>
            </a:r>
            <a:endParaRPr lang="en-US" sz="1650" dirty="0"/>
          </a:p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Setting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is a singleton (single row) storing global configuration.</a:t>
            </a:r>
            <a:endParaRPr lang="en-US" sz="1650" dirty="0"/>
          </a:p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Payment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is an audit log linking a User, Job, and optionally an Application.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514350" y="4310695"/>
            <a:ext cx="8115300" cy="819076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28638" y="4310695"/>
            <a:ext cx="0" cy="819076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4350" y="4310695"/>
            <a:ext cx="8115300" cy="832805"/>
          </a:xfrm>
          <a:prstGeom prst="rect">
            <a:avLst/>
          </a:prstGeom>
          <a:noFill/>
          <a:ln/>
        </p:spPr>
        <p:txBody>
          <a:bodyPr wrap="square" lIns="171450" tIns="142875" rIns="171450" bIns="142875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Full class diagram with attributes and operations in Chapter 3, Figure 3.5. Complete Prisma schema in Appendix C.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478346"/>
          </a:xfrm>
          <a:prstGeom prst="rect">
            <a:avLst/>
          </a:prstGeom>
          <a:noFill/>
          <a:ln/>
        </p:spPr>
        <p:txBody>
          <a:bodyPr wrap="square" lIns="0" tIns="0" rIns="0" bIns="85725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Sequence &amp; Activity Diagrams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14350" y="1042988"/>
            <a:ext cx="4779340" cy="362617"/>
          </a:xfrm>
          <a:prstGeom prst="rect">
            <a:avLst/>
          </a:prstGeom>
          <a:noFill/>
          <a:ln/>
        </p:spPr>
        <p:txBody>
          <a:bodyPr wrap="none" lIns="0" tIns="0" rIns="0" bIns="42863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spc="60" kern="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SEQUENCE DIAGRAMS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14350" y="1464469"/>
            <a:ext cx="3943350" cy="2856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78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100"/>
              </a:lnSpc>
              <a:spcAft>
                <a:spcPts val="788"/>
              </a:spcAft>
              <a:buNone/>
            </a:pPr>
            <a:r>
              <a:rPr lang="en-US" sz="1500" b="1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Apply to Job:</a:t>
            </a:r>
            <a:pPr algn="l" indent="0" marL="0">
              <a:lnSpc>
                <a:spcPts val="2100"/>
              </a:lnSpc>
              <a:spcAft>
                <a:spcPts val="788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Mini App → Jobs API → Applications API → Database → Employer (Telegram notification)</a:t>
            </a:r>
            <a:endParaRPr lang="en-US" sz="1500" dirty="0"/>
          </a:p>
          <a:p>
            <a:pPr algn="l" indent="0" marL="0">
              <a:lnSpc>
                <a:spcPts val="2100"/>
              </a:lnSpc>
              <a:spcAft>
                <a:spcPts val="78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100"/>
              </a:lnSpc>
              <a:spcAft>
                <a:spcPts val="788"/>
              </a:spcAft>
              <a:buNone/>
            </a:pPr>
            <a:r>
              <a:rPr lang="en-US" sz="1500" b="1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Accept Applicant and Pay:</a:t>
            </a:r>
            <a:pPr algn="l" indent="0" marL="0">
              <a:lnSpc>
                <a:spcPts val="2100"/>
              </a:lnSpc>
              <a:spcAft>
                <a:spcPts val="788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Employer → Accept API → Student (notification) → Pay API → Admin → Approve Payment API</a:t>
            </a:r>
            <a:endParaRPr lang="en-US" sz="1500" dirty="0"/>
          </a:p>
          <a:p>
            <a:pPr algn="l" indent="0" marL="0">
              <a:lnSpc>
                <a:spcPts val="2100"/>
              </a:lnSpc>
              <a:spcAft>
                <a:spcPts val="78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100"/>
              </a:lnSpc>
              <a:spcAft>
                <a:spcPts val="788"/>
              </a:spcAft>
              <a:buNone/>
            </a:pPr>
            <a:r>
              <a:rPr lang="en-US" sz="1500" b="1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Approve Job and Broadcast:</a:t>
            </a:r>
            <a:pPr algn="l" indent="0" marL="0">
              <a:lnSpc>
                <a:spcPts val="2100"/>
              </a:lnSpc>
              <a:spcAft>
                <a:spcPts val="788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Admin → Approve API → Channel (Telegram Bot API) → Subscribers (push)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686300" y="1042988"/>
            <a:ext cx="4457700" cy="362617"/>
          </a:xfrm>
          <a:prstGeom prst="rect">
            <a:avLst/>
          </a:prstGeom>
          <a:noFill/>
          <a:ln/>
        </p:spPr>
        <p:txBody>
          <a:bodyPr wrap="none" lIns="0" tIns="0" rIns="0" bIns="42863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spc="60" kern="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ACTIVITY DIAGRAMS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686300" y="1464469"/>
            <a:ext cx="3943350" cy="2856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78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100"/>
              </a:lnSpc>
              <a:spcAft>
                <a:spcPts val="788"/>
              </a:spcAft>
              <a:buNone/>
            </a:pPr>
            <a:r>
              <a:rPr lang="en-US" sz="1500" b="1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Job Posting &amp; Approval Flow:</a:t>
            </a:r>
            <a:pPr algn="l" indent="0" marL="0">
              <a:lnSpc>
                <a:spcPts val="2100"/>
              </a:lnSpc>
              <a:spcAft>
                <a:spcPts val="788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submit → payment screenshot → admin review → approve/reject → broadcast → alerts</a:t>
            </a:r>
            <a:endParaRPr lang="en-US" sz="1500" dirty="0"/>
          </a:p>
          <a:p>
            <a:pPr algn="l" indent="0" marL="0">
              <a:lnSpc>
                <a:spcPts val="2100"/>
              </a:lnSpc>
              <a:spcAft>
                <a:spcPts val="78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100"/>
              </a:lnSpc>
              <a:spcAft>
                <a:spcPts val="788"/>
              </a:spcAft>
              <a:buNone/>
            </a:pPr>
            <a:r>
              <a:rPr lang="en-US" sz="1500" b="1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Application Lifecycle:</a:t>
            </a:r>
            <a:pPr algn="l" indent="0" marL="0">
              <a:lnSpc>
                <a:spcPts val="2100"/>
              </a:lnSpc>
              <a:spcAft>
                <a:spcPts val="788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PENDING → ACCEPTED → PAYMENT_PENDING → HIRED (or REJECTED/CLOSED)</a:t>
            </a:r>
            <a:endParaRPr lang="en-US" sz="1500" dirty="0"/>
          </a:p>
          <a:p>
            <a:pPr algn="l" indent="0" marL="0">
              <a:lnSpc>
                <a:spcPts val="2100"/>
              </a:lnSpc>
              <a:spcAft>
                <a:spcPts val="78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100"/>
              </a:lnSpc>
              <a:spcAft>
                <a:spcPts val="788"/>
              </a:spcAft>
              <a:buNone/>
            </a:pPr>
            <a:r>
              <a:rPr lang="en-US" sz="1500" b="1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Auto-close trigger:</a:t>
            </a:r>
            <a:pPr algn="l" indent="0" marL="0">
              <a:lnSpc>
                <a:spcPts val="2100"/>
              </a:lnSpc>
              <a:spcAft>
                <a:spcPts val="788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when filledPositions = positionsAvailable, mark job CLOSED, notify all parties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4350" y="4248187"/>
            <a:ext cx="8115300" cy="55241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28638" y="4248187"/>
            <a:ext cx="0" cy="552413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4350" y="4248187"/>
            <a:ext cx="8115300" cy="596606"/>
          </a:xfrm>
          <a:prstGeom prst="rect">
            <a:avLst/>
          </a:prstGeom>
          <a:noFill/>
          <a:ln/>
        </p:spPr>
        <p:txBody>
          <a:bodyPr wrap="square" lIns="171450" tIns="142875" rIns="171450" bIns="142875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Full diagrams in Chapter 2, Figures 2.9–2.13.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521065" cy="478346"/>
          </a:xfrm>
          <a:prstGeom prst="rect">
            <a:avLst/>
          </a:prstGeom>
          <a:noFill/>
          <a:ln/>
        </p:spPr>
        <p:txBody>
          <a:bodyPr wrap="none" lIns="0" tIns="0" rIns="0" bIns="85725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Software Architecture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14350" y="1042988"/>
            <a:ext cx="8115300" cy="31166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b="1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Selected style: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Layered Architecture with four layers — Presentation, Application, Domain, Persistence.</a:t>
            </a:r>
            <a:endParaRPr lang="en-US" sz="1650" dirty="0"/>
          </a:p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b="1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Presentation Layer: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React 19 components (Mini App views).</a:t>
            </a:r>
            <a:endParaRPr lang="en-US" sz="1650" dirty="0"/>
          </a:p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b="1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Application Layer: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Next.js API routes (controllers).</a:t>
            </a:r>
            <a:endParaRPr lang="en-US" sz="1650" dirty="0"/>
          </a:p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b="1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Domain Layer: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Prisma models + business logic.</a:t>
            </a:r>
            <a:endParaRPr lang="en-US" sz="1650" dirty="0"/>
          </a:p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b="1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Persistence Layer: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PostgreSQL on Neon (Frankfurt, eu-central-1).</a:t>
            </a:r>
            <a:endParaRPr lang="en-US" sz="1650" dirty="0"/>
          </a:p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b="1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Chosen for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clear separation of concerns, Next.js convention alignment, team familiarity.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514350" y="4017466"/>
            <a:ext cx="8115300" cy="1085738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28638" y="4017466"/>
            <a:ext cx="0" cy="1085738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4350" y="4017466"/>
            <a:ext cx="8115300" cy="1126034"/>
          </a:xfrm>
          <a:prstGeom prst="rect">
            <a:avLst/>
          </a:prstGeom>
          <a:noFill/>
          <a:ln/>
        </p:spPr>
        <p:txBody>
          <a:bodyPr wrap="square" lIns="171450" tIns="142875" rIns="171450" bIns="142875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Alternatives considered: Microkernel (too complex), Event-Driven (unnecessary complexity), Serverless-First (already adopted at deployment). Full comparison in Chapter 3, Table 3.1.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521065" cy="478346"/>
          </a:xfrm>
          <a:prstGeom prst="rect">
            <a:avLst/>
          </a:prstGeom>
          <a:noFill/>
          <a:ln/>
        </p:spPr>
        <p:txBody>
          <a:bodyPr wrap="none" lIns="0" tIns="0" rIns="0" bIns="85725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Component &amp; Deployment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14350" y="1042988"/>
            <a:ext cx="4779340" cy="362617"/>
          </a:xfrm>
          <a:prstGeom prst="rect">
            <a:avLst/>
          </a:prstGeom>
          <a:noFill/>
          <a:ln/>
        </p:spPr>
        <p:txBody>
          <a:bodyPr wrap="none" lIns="0" tIns="0" rIns="0" bIns="42863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spc="60" kern="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COMPONENTS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14350" y="1464469"/>
            <a:ext cx="3943350" cy="3350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78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100"/>
              </a:lnSpc>
              <a:spcAft>
                <a:spcPts val="788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Next.js Mini App (Vercel) — frontend + API routes</a:t>
            </a:r>
            <a:endParaRPr lang="en-US" sz="1500" dirty="0"/>
          </a:p>
          <a:p>
            <a:pPr algn="l" indent="0" marL="0">
              <a:lnSpc>
                <a:spcPts val="2100"/>
              </a:lnSpc>
              <a:spcAft>
                <a:spcPts val="78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100"/>
              </a:lnSpc>
              <a:spcAft>
                <a:spcPts val="788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Telegram Bot Webhook (within Next.js) — receives updates</a:t>
            </a:r>
            <a:endParaRPr lang="en-US" sz="1500" dirty="0"/>
          </a:p>
          <a:p>
            <a:pPr algn="l" indent="0" marL="0">
              <a:lnSpc>
                <a:spcPts val="2100"/>
              </a:lnSpc>
              <a:spcAft>
                <a:spcPts val="78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100"/>
              </a:lnSpc>
              <a:spcAft>
                <a:spcPts val="788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PostgreSQL Database (Neon Frankfurt) — data persistence</a:t>
            </a:r>
            <a:endParaRPr lang="en-US" sz="1500" dirty="0"/>
          </a:p>
          <a:p>
            <a:pPr algn="l" indent="0" marL="0">
              <a:lnSpc>
                <a:spcPts val="2100"/>
              </a:lnSpc>
              <a:spcAft>
                <a:spcPts val="78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100"/>
              </a:lnSpc>
              <a:spcAft>
                <a:spcPts val="788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Telegram Bot API (external) — message sending + initData</a:t>
            </a:r>
            <a:endParaRPr lang="en-US" sz="1500" dirty="0"/>
          </a:p>
          <a:p>
            <a:pPr algn="l" indent="0" marL="0">
              <a:lnSpc>
                <a:spcPts val="2100"/>
              </a:lnSpc>
              <a:spcAft>
                <a:spcPts val="78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100"/>
              </a:lnSpc>
              <a:spcAft>
                <a:spcPts val="788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@TEMARIWARE Channel (external) — public job broadcast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686300" y="1042988"/>
            <a:ext cx="4457700" cy="362617"/>
          </a:xfrm>
          <a:prstGeom prst="rect">
            <a:avLst/>
          </a:prstGeom>
          <a:noFill/>
          <a:ln/>
        </p:spPr>
        <p:txBody>
          <a:bodyPr wrap="none" lIns="0" tIns="0" rIns="0" bIns="42863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spc="60" kern="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DEPLOYMENT NODES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686300" y="1464469"/>
            <a:ext cx="3943350" cy="3350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78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100"/>
              </a:lnSpc>
              <a:spcAft>
                <a:spcPts val="788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Vercel Edge Network — runs Next.js globally</a:t>
            </a:r>
            <a:endParaRPr lang="en-US" sz="1500" dirty="0"/>
          </a:p>
          <a:p>
            <a:pPr algn="l" indent="0" marL="0">
              <a:lnSpc>
                <a:spcPts val="2100"/>
              </a:lnSpc>
              <a:spcAft>
                <a:spcPts val="78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100"/>
              </a:lnSpc>
              <a:spcAft>
                <a:spcPts val="788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Neon Cloud (Frankfurt) — PostgreSQL, closest to Ethiopia</a:t>
            </a:r>
            <a:endParaRPr lang="en-US" sz="1500" dirty="0"/>
          </a:p>
          <a:p>
            <a:pPr algn="l" indent="0" marL="0">
              <a:lnSpc>
                <a:spcPts val="2100"/>
              </a:lnSpc>
              <a:spcAft>
                <a:spcPts val="78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100"/>
              </a:lnSpc>
              <a:spcAft>
                <a:spcPts val="788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Telegram Cloud — Bot API + channel hosting</a:t>
            </a:r>
            <a:endParaRPr lang="en-US" sz="1500" dirty="0"/>
          </a:p>
          <a:p>
            <a:pPr algn="l" indent="0" marL="0">
              <a:lnSpc>
                <a:spcPts val="2100"/>
              </a:lnSpc>
              <a:spcAft>
                <a:spcPts val="78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100"/>
              </a:lnSpc>
              <a:spcAft>
                <a:spcPts val="788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End users access via Telegram client (mobile/desktop/web)</a:t>
            </a:r>
            <a:endParaRPr lang="en-US" sz="1500" dirty="0"/>
          </a:p>
          <a:p>
            <a:pPr algn="l" indent="0" marL="0">
              <a:lnSpc>
                <a:spcPts val="2100"/>
              </a:lnSpc>
              <a:spcAft>
                <a:spcPts val="78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100"/>
              </a:lnSpc>
              <a:spcAft>
                <a:spcPts val="788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Webhook: Telegram Cloud → Vercel via HTTPS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4350" y="4659734"/>
            <a:ext cx="8115300" cy="55241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28638" y="4659734"/>
            <a:ext cx="0" cy="552413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4350" y="4659734"/>
            <a:ext cx="8115300" cy="483766"/>
          </a:xfrm>
          <a:prstGeom prst="rect">
            <a:avLst/>
          </a:prstGeom>
          <a:noFill/>
          <a:ln/>
        </p:spPr>
        <p:txBody>
          <a:bodyPr wrap="square" lIns="171450" tIns="142875" rIns="171450" bIns="142875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Full diagrams in Chapter 3, Figures 3.2 and 3.3.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521065" cy="478346"/>
          </a:xfrm>
          <a:prstGeom prst="rect">
            <a:avLst/>
          </a:prstGeom>
          <a:noFill/>
          <a:ln/>
        </p:spPr>
        <p:txBody>
          <a:bodyPr wrap="none" lIns="0" tIns="0" rIns="0" bIns="85725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Persistent Data Model</a:t>
            </a:r>
            <a:endParaRPr lang="en-US" sz="22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4350" y="1042988"/>
          <a:ext cx="8115300" cy="914400"/>
        </p:xfrm>
        <a:graphic>
          <a:graphicData uri="http://schemas.openxmlformats.org/drawingml/2006/table">
            <a:tbl>
              <a:tblPr/>
              <a:tblGrid>
                <a:gridCol w="1783705"/>
                <a:gridCol w="632445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Table</a:t>
                      </a:r>
                      <a:endParaRPr lang="en-US" sz="105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Key Fields</a:t>
                      </a:r>
                      <a:endParaRPr lang="en-US" sz="105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User</a:t>
                      </a:r>
                      <a:endParaRPr lang="en-US" sz="105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42863" marR="57150" marT="57150" marB="428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id, telegramId, role, language, profile + document fields, verification, isAdmin</a:t>
                      </a:r>
                      <a:endParaRPr lang="en-US" sz="105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42863" marR="57150" marT="57150" marB="428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Job</a:t>
                      </a:r>
                      <a:endParaRPr lang="en-US" sz="105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42863" marR="57150" marT="57150" marB="428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id, title, subjects, location, workType, salary, positionsAvailable, applicationFee, status</a:t>
                      </a:r>
                      <a:endParaRPr lang="en-US" sz="105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42863" marR="57150" marT="57150" marB="428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Application</a:t>
                      </a:r>
                      <a:endParaRPr lang="en-US" sz="105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42863" marR="57150" marT="57150" marB="428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id, jobId, userId, message, status, paymentScreenshot, hiredAt</a:t>
                      </a:r>
                      <a:endParaRPr lang="en-US" sz="105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42863" marR="57150" marT="57150" marB="428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Subscription</a:t>
                      </a:r>
                      <a:endParaRPr lang="en-US" sz="105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42863" marR="57150" marT="57150" marB="428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id, userId, category</a:t>
                      </a:r>
                      <a:endParaRPr lang="en-US" sz="105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42863" marR="57150" marT="57150" marB="428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VerificationRequest</a:t>
                      </a:r>
                      <a:endParaRPr lang="en-US" sz="105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42863" marR="57150" marT="57150" marB="428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id, userId, companyName, contactTelegram, status</a:t>
                      </a:r>
                      <a:endParaRPr lang="en-US" sz="105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42863" marR="57150" marT="57150" marB="428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Setting</a:t>
                      </a:r>
                      <a:endParaRPr lang="en-US" sz="105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42863" marR="57150" marT="57150" marB="428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id (singleton), jobPostFee, applicationFee, paymentInstructions</a:t>
                      </a:r>
                      <a:endParaRPr lang="en-US" sz="105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42863" marR="57150" marT="57150" marB="428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Payment</a:t>
                      </a:r>
                      <a:endParaRPr lang="en-US" sz="105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42863" marR="57150" marT="57150" marB="428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id, userId, jobId, type, amount, screenshotUrl, status, reviewedBy</a:t>
                      </a:r>
                      <a:endParaRPr lang="en-US" sz="105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42863" marR="57150" marT="57150" marB="428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14350" y="3479006"/>
            <a:ext cx="8115300" cy="329617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528638" y="3479006"/>
            <a:ext cx="0" cy="329617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14350" y="3479006"/>
            <a:ext cx="8115300" cy="355986"/>
          </a:xfrm>
          <a:prstGeom prst="rect">
            <a:avLst/>
          </a:prstGeom>
          <a:noFill/>
          <a:ln/>
        </p:spPr>
        <p:txBody>
          <a:bodyPr wrap="square" lIns="100013" tIns="71438" rIns="100013" bIns="71438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Full ER diagram: Chapter 3, Figure 3.4. Complete Prisma schema: Appendix C.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521065" cy="478346"/>
          </a:xfrm>
          <a:prstGeom prst="rect">
            <a:avLst/>
          </a:prstGeom>
          <a:noFill/>
          <a:ln/>
        </p:spPr>
        <p:txBody>
          <a:bodyPr wrap="none" lIns="0" tIns="0" rIns="0" bIns="85725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Detailed Design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14350" y="1042988"/>
            <a:ext cx="8115300" cy="4049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b="1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Design-Level Class Diagram: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refines conceptual model with attributes, operations, visibility (Figure 3.5).</a:t>
            </a:r>
            <a:endParaRPr lang="en-US" sz="1650" dirty="0"/>
          </a:p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b="1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Collaboration Diagrams: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Apply to Job, Post Job and Pay, Approve Payment and Hire (Figures 3.6–3.8).</a:t>
            </a:r>
            <a:endParaRPr lang="en-US" sz="1650" dirty="0"/>
          </a:p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b="1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State Chart Diagram: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Application lifecycle — PENDING → ACCEPTED → PAYMENT_PENDING → HIRED (or REJECTED/CLOSED) (Figure 3.9).</a:t>
            </a:r>
            <a:endParaRPr lang="en-US" sz="1650" dirty="0"/>
          </a:p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b="1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User Interface Diagrams: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6 views — Home, Job Detail, Post Job, Applications, Profile, Admin (Figures 3.10–3.15).</a:t>
            </a:r>
            <a:endParaRPr lang="en-US" sz="1650" dirty="0"/>
          </a:p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b="1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Class Type Architecture: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Entity (7 classes), Boundary (7 classes), Control (6 classes) — ECB pattern.</a:t>
            </a:r>
            <a:endParaRPr lang="en-US" sz="1650" dirty="0"/>
          </a:p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All design artefacts provide a complete blueprint for implementation handoff.</a:t>
            </a:r>
            <a:endParaRPr lang="en-US" sz="16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521065" cy="478346"/>
          </a:xfrm>
          <a:prstGeom prst="rect">
            <a:avLst/>
          </a:prstGeom>
          <a:noFill/>
          <a:ln/>
        </p:spPr>
        <p:txBody>
          <a:bodyPr wrap="none" lIns="0" tIns="0" rIns="0" bIns="85725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Implementation Status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14350" y="1042988"/>
            <a:ext cx="4779340" cy="362617"/>
          </a:xfrm>
          <a:prstGeom prst="rect">
            <a:avLst/>
          </a:prstGeom>
          <a:noFill/>
          <a:ln/>
        </p:spPr>
        <p:txBody>
          <a:bodyPr wrap="none" lIns="0" tIns="0" rIns="0" bIns="42863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spc="60" kern="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LIVE DEPLOYMENT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14350" y="1464469"/>
            <a:ext cx="3943350" cy="2550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563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950"/>
              </a:lnSpc>
              <a:spcAft>
                <a:spcPts val="563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Bot: </a:t>
            </a:r>
            <a:pPr algn="l" indent="0" marL="0">
              <a:lnSpc>
                <a:spcPts val="1950"/>
              </a:lnSpc>
              <a:spcAft>
                <a:spcPts val="563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@temariwarebot</a:t>
            </a:r>
            <a:pPr algn="l" indent="0" marL="0">
              <a:lnSpc>
                <a:spcPts val="1950"/>
              </a:lnSpc>
              <a:spcAft>
                <a:spcPts val="563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(live on Telegram)</a:t>
            </a:r>
            <a:endParaRPr lang="en-US" sz="1500" dirty="0"/>
          </a:p>
          <a:p>
            <a:pPr algn="l" indent="0" marL="0">
              <a:lnSpc>
                <a:spcPts val="1950"/>
              </a:lnSpc>
              <a:spcAft>
                <a:spcPts val="563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950"/>
              </a:lnSpc>
              <a:spcAft>
                <a:spcPts val="563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Channel: </a:t>
            </a:r>
            <a:pPr algn="l" indent="0" marL="0">
              <a:lnSpc>
                <a:spcPts val="1950"/>
              </a:lnSpc>
              <a:spcAft>
                <a:spcPts val="563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@TEMARIWARE</a:t>
            </a:r>
            <a:pPr algn="l" indent="0" marL="0">
              <a:lnSpc>
                <a:spcPts val="1950"/>
              </a:lnSpc>
              <a:spcAft>
                <a:spcPts val="563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(broadcasts working)</a:t>
            </a:r>
            <a:endParaRPr lang="en-US" sz="1500" dirty="0"/>
          </a:p>
          <a:p>
            <a:pPr algn="l" indent="0" marL="0">
              <a:lnSpc>
                <a:spcPts val="1950"/>
              </a:lnSpc>
              <a:spcAft>
                <a:spcPts val="563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950"/>
              </a:lnSpc>
              <a:spcAft>
                <a:spcPts val="563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Mini App: deployed on Vercel (temariware-rouge.vercel.app)</a:t>
            </a:r>
            <a:endParaRPr lang="en-US" sz="1500" dirty="0"/>
          </a:p>
          <a:p>
            <a:pPr algn="l" indent="0" marL="0">
              <a:lnSpc>
                <a:spcPts val="1950"/>
              </a:lnSpc>
              <a:spcAft>
                <a:spcPts val="563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950"/>
              </a:lnSpc>
              <a:spcAft>
                <a:spcPts val="563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Database: Neon Postgres (Frankfurt)</a:t>
            </a:r>
            <a:endParaRPr lang="en-US" sz="1500" dirty="0"/>
          </a:p>
          <a:p>
            <a:pPr algn="l" indent="0" marL="0">
              <a:lnSpc>
                <a:spcPts val="1950"/>
              </a:lnSpc>
              <a:spcAft>
                <a:spcPts val="563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950"/>
              </a:lnSpc>
              <a:spcAft>
                <a:spcPts val="563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Webhook: configured and verified</a:t>
            </a:r>
            <a:endParaRPr lang="en-US" sz="1500" dirty="0"/>
          </a:p>
          <a:p>
            <a:pPr algn="l" indent="0" marL="0">
              <a:lnSpc>
                <a:spcPts val="1950"/>
              </a:lnSpc>
              <a:spcAft>
                <a:spcPts val="563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950"/>
              </a:lnSpc>
              <a:spcAft>
                <a:spcPts val="563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All 9 bot commands functional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686300" y="1042988"/>
            <a:ext cx="4457700" cy="362617"/>
          </a:xfrm>
          <a:prstGeom prst="rect">
            <a:avLst/>
          </a:prstGeom>
          <a:noFill/>
          <a:ln/>
        </p:spPr>
        <p:txBody>
          <a:bodyPr wrap="none" lIns="0" tIns="0" rIns="0" bIns="42863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spc="60" kern="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IMPLEMENTED FEATURES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686300" y="1464469"/>
            <a:ext cx="3943350" cy="2701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563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950"/>
              </a:lnSpc>
              <a:spcAft>
                <a:spcPts val="563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6 Mini App views with 3-language support</a:t>
            </a:r>
            <a:endParaRPr lang="en-US" sz="1500" dirty="0"/>
          </a:p>
          <a:p>
            <a:pPr algn="l" indent="0" marL="0">
              <a:lnSpc>
                <a:spcPts val="1950"/>
              </a:lnSpc>
              <a:spcAft>
                <a:spcPts val="563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950"/>
              </a:lnSpc>
              <a:spcAft>
                <a:spcPts val="563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Job posting with payment screenshot</a:t>
            </a:r>
            <a:endParaRPr lang="en-US" sz="1500" dirty="0"/>
          </a:p>
          <a:p>
            <a:pPr algn="l" indent="0" marL="0">
              <a:lnSpc>
                <a:spcPts val="1950"/>
              </a:lnSpc>
              <a:spcAft>
                <a:spcPts val="563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950"/>
              </a:lnSpc>
              <a:spcAft>
                <a:spcPts val="563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Application with mandatory documents</a:t>
            </a:r>
            <a:endParaRPr lang="en-US" sz="1500" dirty="0"/>
          </a:p>
          <a:p>
            <a:pPr algn="l" indent="0" marL="0">
              <a:lnSpc>
                <a:spcPts val="1950"/>
              </a:lnSpc>
              <a:spcAft>
                <a:spcPts val="563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950"/>
              </a:lnSpc>
              <a:spcAft>
                <a:spcPts val="563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Employer accept/reject applicants</a:t>
            </a:r>
            <a:endParaRPr lang="en-US" sz="1500" dirty="0"/>
          </a:p>
          <a:p>
            <a:pPr algn="l" indent="0" marL="0">
              <a:lnSpc>
                <a:spcPts val="1950"/>
              </a:lnSpc>
              <a:spcAft>
                <a:spcPts val="563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950"/>
              </a:lnSpc>
              <a:spcAft>
                <a:spcPts val="563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Student payment upload after acceptance</a:t>
            </a:r>
            <a:endParaRPr lang="en-US" sz="1500" dirty="0"/>
          </a:p>
          <a:p>
            <a:pPr algn="l" indent="0" marL="0">
              <a:lnSpc>
                <a:spcPts val="1950"/>
              </a:lnSpc>
              <a:spcAft>
                <a:spcPts val="563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950"/>
              </a:lnSpc>
              <a:spcAft>
                <a:spcPts val="563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Admin payment approval + auto-hire</a:t>
            </a:r>
            <a:endParaRPr lang="en-US" sz="1500" dirty="0"/>
          </a:p>
          <a:p>
            <a:pPr algn="l" indent="0" marL="0">
              <a:lnSpc>
                <a:spcPts val="1950"/>
              </a:lnSpc>
              <a:spcAft>
                <a:spcPts val="563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950"/>
              </a:lnSpc>
              <a:spcAft>
                <a:spcPts val="563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Auto-close on positions filled</a:t>
            </a:r>
            <a:endParaRPr lang="en-US" sz="1500" dirty="0"/>
          </a:p>
          <a:p>
            <a:pPr algn="l" indent="0" marL="0">
              <a:lnSpc>
                <a:spcPts val="1950"/>
              </a:lnSpc>
              <a:spcAft>
                <a:spcPts val="563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950"/>
              </a:lnSpc>
              <a:spcAft>
                <a:spcPts val="563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Channel broadcast + subscriber alerts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4350" y="4248187"/>
            <a:ext cx="8115300" cy="55241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28638" y="4248187"/>
            <a:ext cx="0" cy="552413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4350" y="4248187"/>
            <a:ext cx="8115300" cy="596606"/>
          </a:xfrm>
          <a:prstGeom prst="rect">
            <a:avLst/>
          </a:prstGeom>
          <a:noFill/>
          <a:ln/>
        </p:spPr>
        <p:txBody>
          <a:bodyPr wrap="square" lIns="171450" tIns="142875" rIns="171450" bIns="142875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System is production-ready and accepting real users.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521065" cy="478346"/>
          </a:xfrm>
          <a:prstGeom prst="rect">
            <a:avLst/>
          </a:prstGeom>
          <a:noFill/>
          <a:ln/>
        </p:spPr>
        <p:txBody>
          <a:bodyPr wrap="none" lIns="0" tIns="0" rIns="0" bIns="85725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Conclusion &amp; Future Work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14350" y="1042988"/>
            <a:ext cx="4813973" cy="300774"/>
          </a:xfrm>
          <a:prstGeom prst="rect">
            <a:avLst/>
          </a:prstGeom>
          <a:noFill/>
          <a:ln/>
        </p:spPr>
        <p:txBody>
          <a:bodyPr wrap="none" lIns="0" tIns="0" rIns="0" bIns="42863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spc="48" kern="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14350" y="1378632"/>
            <a:ext cx="3971925" cy="2413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Addresses structural gaps in Ethiopia's informal Telegram job market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All 10 specific objectives achieved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System deployed, live, accepting real users on free-tier infrastructure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Combines job matching, document verification, and payment workflow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Demonstrates zero-cost production-grade software in Ethiopia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57725" y="1042988"/>
            <a:ext cx="4486275" cy="300774"/>
          </a:xfrm>
          <a:prstGeom prst="rect">
            <a:avLst/>
          </a:prstGeom>
          <a:noFill/>
          <a:ln/>
        </p:spPr>
        <p:txBody>
          <a:bodyPr wrap="none" lIns="0" tIns="0" rIns="0" bIns="42863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spc="4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FUTURE WORK (V2)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57725" y="1378632"/>
            <a:ext cx="3971925" cy="2099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Integrate Chapa API for automated payment verification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Migrate image storage to Supabase Storage / S3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Add in-app messaging between students and employers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Automated scraping from existing Telegram channels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Employer dashboard with multi-job analytics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Expand to other East African markets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3388" y="1007269"/>
            <a:ext cx="2937224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431274" y="1807369"/>
            <a:ext cx="2281340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Questions &amp; Answers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286250" y="2493169"/>
            <a:ext cx="571500" cy="14288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4422" y="2721769"/>
            <a:ext cx="1515156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95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Nebiyu Tsegaye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946824" y="2970349"/>
            <a:ext cx="3250352" cy="264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229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ID: 1501332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074398" y="3261792"/>
            <a:ext cx="2995205" cy="264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9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Department of Software Engineering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15998" y="3553234"/>
            <a:ext cx="2912005" cy="314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9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Dire Dawa University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074398" y="3901827"/>
            <a:ext cx="2995205" cy="314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95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@temariwarebot</a:t>
            </a:r>
            <a:pPr algn="ctr" indent="0" marL="0">
              <a:lnSpc>
                <a:spcPts val="229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on Telegram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2026-09-16T09:36:57Z</dcterms:created>
  <dcterms:modified xsi:type="dcterms:W3CDTF">2026-09-16T09:36:57Z</dcterms:modified>
</cp:coreProperties>
</file>